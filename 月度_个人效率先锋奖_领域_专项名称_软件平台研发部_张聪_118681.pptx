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6"/>
  </p:sldMasterIdLst>
  <p:notesMasterIdLst>
    <p:notesMasterId r:id="rId22"/>
  </p:notesMasterIdLst>
  <p:sldIdLst>
    <p:sldId id="265" r:id="rId7"/>
    <p:sldId id="263" r:id="rId8"/>
    <p:sldId id="287" r:id="rId9"/>
    <p:sldId id="276" r:id="rId10"/>
    <p:sldId id="277" r:id="rId11"/>
    <p:sldId id="290" r:id="rId12"/>
    <p:sldId id="278" r:id="rId13"/>
    <p:sldId id="302" r:id="rId14"/>
    <p:sldId id="293" r:id="rId15"/>
    <p:sldId id="299" r:id="rId16"/>
    <p:sldId id="300" r:id="rId17"/>
    <p:sldId id="301" r:id="rId18"/>
    <p:sldId id="294" r:id="rId19"/>
    <p:sldId id="280" r:id="rId20"/>
    <p:sldId id="264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F00B7BF3-58D4-F84E-A59A-929F7798466E}">
          <p14:sldIdLst>
            <p14:sldId id="265"/>
          </p14:sldIdLst>
        </p14:section>
        <p14:section name="目录" id="{BCA00503-D31C-E44F-8C66-429315E97A5C}">
          <p14:sldIdLst>
            <p14:sldId id="263"/>
          </p14:sldIdLst>
        </p14:section>
        <p14:section name="正文" id="{404CB400-6E3D-0C46-BF5F-9ABCB0E77839}">
          <p14:sldIdLst>
            <p14:sldId id="287"/>
            <p14:sldId id="276"/>
            <p14:sldId id="277"/>
            <p14:sldId id="290"/>
            <p14:sldId id="278"/>
            <p14:sldId id="302"/>
            <p14:sldId id="293"/>
            <p14:sldId id="299"/>
            <p14:sldId id="300"/>
            <p14:sldId id="301"/>
            <p14:sldId id="294"/>
            <p14:sldId id="280"/>
          </p14:sldIdLst>
        </p14:section>
        <p14:section name="封底" id="{54D028FF-3349-EA4D-A906-0A82749D755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FFFFF"/>
    <a:srgbClr val="4C7BFE"/>
    <a:srgbClr val="6A91FE"/>
    <a:srgbClr val="404040"/>
    <a:srgbClr val="C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44" autoAdjust="0"/>
  </p:normalViewPr>
  <p:slideViewPr>
    <p:cSldViewPr snapToGrid="0" snapToObjects="1" showGuides="1">
      <p:cViewPr varScale="1">
        <p:scale>
          <a:sx n="131" d="100"/>
          <a:sy n="131" d="100"/>
        </p:scale>
        <p:origin x="10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F8D4-6DC5-43F0-ADB7-4DD45C274C2C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EF4DF-63A4-4C06-9DEB-F7BEB0DB1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64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- AI</a:t>
            </a:r>
            <a:r>
              <a:rPr lang="zh-CN" altLang="en-US" dirty="0"/>
              <a:t>进阶技能掌握情况：输出</a:t>
            </a:r>
            <a:r>
              <a:rPr lang="en-US" altLang="zh-CN" dirty="0"/>
              <a:t>Skill</a:t>
            </a:r>
            <a:r>
              <a:rPr lang="zh-CN" altLang="en-US" dirty="0"/>
              <a:t>，</a:t>
            </a:r>
            <a:r>
              <a:rPr lang="en-US" altLang="zh-CN" dirty="0"/>
              <a:t>Agent</a:t>
            </a:r>
            <a:r>
              <a:rPr lang="zh-CN" altLang="en-US" dirty="0"/>
              <a:t>，</a:t>
            </a:r>
            <a:r>
              <a:rPr lang="en-US" altLang="zh-CN" dirty="0"/>
              <a:t>Prompt</a:t>
            </a:r>
            <a:r>
              <a:rPr lang="zh-CN" altLang="en-US" dirty="0"/>
              <a:t>的数量。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- </a:t>
            </a:r>
            <a:r>
              <a:rPr lang="zh-CN" altLang="en-US" dirty="0"/>
              <a:t>个人</a:t>
            </a:r>
            <a:r>
              <a:rPr lang="en-US" altLang="zh-CN" dirty="0"/>
              <a:t>AI</a:t>
            </a:r>
            <a:r>
              <a:rPr lang="zh-CN" altLang="en-US" dirty="0"/>
              <a:t>优秀应用案例输出：根据案例质量评分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权重：</a:t>
            </a:r>
            <a:r>
              <a:rPr lang="en-US" altLang="zh-CN" dirty="0"/>
              <a:t>30%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EF4DF-63A4-4C06-9DEB-F7BEB0DB12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705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- </a:t>
            </a:r>
            <a:r>
              <a:rPr lang="zh-CN" altLang="en-US" dirty="0"/>
              <a:t>对外赋能内容、次数，面向赋能范围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权重：</a:t>
            </a:r>
            <a:r>
              <a:rPr lang="en-US" altLang="zh-CN" dirty="0"/>
              <a:t>20%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EF4DF-63A4-4C06-9DEB-F7BEB0DB12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889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74ECDF-A3F5-834C-BA77-8923F0F9C9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7239" y="347836"/>
            <a:ext cx="1440000" cy="439199"/>
          </a:xfrm>
          <a:prstGeom prst="rect">
            <a:avLst/>
          </a:prstGeom>
        </p:spPr>
      </p:pic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882A0066-DEDC-7243-B000-AF3B5E83C0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285275"/>
            <a:ext cx="73080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</a:t>
            </a:r>
            <a:r>
              <a:rPr kumimoji="1" lang="en-US" altLang="zh-CN" dirty="0"/>
              <a:t>PPT</a:t>
            </a:r>
            <a:r>
              <a:rPr kumimoji="1" lang="zh-CN" altLang="en-US" dirty="0"/>
              <a:t>标题</a:t>
            </a:r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B3D1555D-1C44-274C-91FD-94D882065B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805358"/>
            <a:ext cx="7308000" cy="2215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600" kern="1200" spc="150" dirty="0" smtClean="0">
                <a:solidFill>
                  <a:srgbClr val="CD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副标题</a:t>
            </a:r>
          </a:p>
        </p:txBody>
      </p:sp>
      <p:sp>
        <p:nvSpPr>
          <p:cNvPr id="16" name="文本占位符 10">
            <a:extLst>
              <a:ext uri="{FF2B5EF4-FFF2-40B4-BE49-F238E27FC236}">
                <a16:creationId xmlns:a16="http://schemas.microsoft.com/office/drawing/2014/main" id="{C8DA5337-CF27-554F-9D48-F5769438E7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373" y="4379618"/>
            <a:ext cx="7308000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200" kern="1200" spc="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单击此处添加汇报人信息</a:t>
            </a:r>
          </a:p>
        </p:txBody>
      </p:sp>
      <p:sp>
        <p:nvSpPr>
          <p:cNvPr id="19" name="图片占位符 17">
            <a:extLst>
              <a:ext uri="{FF2B5EF4-FFF2-40B4-BE49-F238E27FC236}">
                <a16:creationId xmlns:a16="http://schemas.microsoft.com/office/drawing/2014/main" id="{2B0B95BB-B775-3E41-A376-5FA313A3C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2314575"/>
            <a:ext cx="8229600" cy="16770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kumimoji="1" lang="zh-CN" altLang="en-US" sz="1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单击中间的图片按钮插入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主题图片，使用裁剪工具可调整图片取景。建议选择简洁大气，与标题内容相符的图片。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10DDD62-62CE-4944-AA12-51639D094C0D}"/>
              </a:ext>
            </a:extLst>
          </p:cNvPr>
          <p:cNvPicPr>
            <a:picLocks/>
          </p:cNvPicPr>
          <p:nvPr userDrawn="1"/>
        </p:nvPicPr>
        <p:blipFill rotWithShape="1">
          <a:blip r:embed="rId3"/>
          <a:srcRect r="269"/>
          <a:stretch/>
        </p:blipFill>
        <p:spPr>
          <a:xfrm>
            <a:off x="914400" y="3991641"/>
            <a:ext cx="8229600" cy="136800"/>
          </a:xfrm>
          <a:prstGeom prst="rect">
            <a:avLst/>
          </a:prstGeom>
          <a:ln>
            <a:noFill/>
          </a:ln>
        </p:spPr>
      </p:pic>
      <p:sp>
        <p:nvSpPr>
          <p:cNvPr id="52" name="文本占位符 10">
            <a:extLst>
              <a:ext uri="{FF2B5EF4-FFF2-40B4-BE49-F238E27FC236}">
                <a16:creationId xmlns:a16="http://schemas.microsoft.com/office/drawing/2014/main" id="{67E3FB58-8C78-3E48-AB24-936A16C6B3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0830" y="4594915"/>
            <a:ext cx="7308000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200" kern="1200" spc="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单击此处添加汇报时间信息</a:t>
            </a:r>
          </a:p>
        </p:txBody>
      </p:sp>
    </p:spTree>
    <p:extLst>
      <p:ext uri="{BB962C8B-B14F-4D97-AF65-F5344CB8AC3E}">
        <p14:creationId xmlns:p14="http://schemas.microsoft.com/office/powerpoint/2010/main" val="161737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D126E2-781D-794C-8F44-99DF16D9A349}"/>
              </a:ext>
            </a:extLst>
          </p:cNvPr>
          <p:cNvGrpSpPr/>
          <p:nvPr userDrawn="1"/>
        </p:nvGrpSpPr>
        <p:grpSpPr>
          <a:xfrm>
            <a:off x="717737" y="531982"/>
            <a:ext cx="931458" cy="659088"/>
            <a:chOff x="719804" y="531982"/>
            <a:chExt cx="931458" cy="65908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296BA49-EC27-D24D-92EB-4A3FAC65CB54}"/>
                </a:ext>
              </a:extLst>
            </p:cNvPr>
            <p:cNvSpPr txBox="1"/>
            <p:nvPr/>
          </p:nvSpPr>
          <p:spPr>
            <a:xfrm>
              <a:off x="719804" y="531982"/>
              <a:ext cx="93145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zh-CN" altLang="en-US" sz="2800" b="1" spc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</a:t>
              </a: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录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37FE6B9-6977-6D4D-BEA3-21BBC6D598F6}"/>
                </a:ext>
              </a:extLst>
            </p:cNvPr>
            <p:cNvSpPr txBox="1"/>
            <p:nvPr/>
          </p:nvSpPr>
          <p:spPr>
            <a:xfrm>
              <a:off x="769592" y="1007889"/>
              <a:ext cx="855902" cy="183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kumimoji="1" lang="en-US" altLang="zh-CN" sz="1200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CONTENTS</a:t>
              </a:r>
              <a:endParaRPr kumimoji="1" lang="zh-CN" altLang="en-US" sz="12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2B21BA03-3DC9-7A46-B8AF-694B5A3275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0775" y="324000"/>
            <a:ext cx="1080000" cy="329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142059-659B-F54B-A3E0-B90A683DC76D}"/>
              </a:ext>
            </a:extLst>
          </p:cNvPr>
          <p:cNvPicPr>
            <a:picLocks/>
          </p:cNvPicPr>
          <p:nvPr userDrawn="1"/>
        </p:nvPicPr>
        <p:blipFill rotWithShape="1">
          <a:blip r:embed="rId3"/>
          <a:srcRect r="11111"/>
          <a:stretch/>
        </p:blipFill>
        <p:spPr>
          <a:xfrm>
            <a:off x="1828801" y="1062294"/>
            <a:ext cx="7315199" cy="7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D4F59C-7A10-4440-BEA2-03557132E54F}"/>
              </a:ext>
            </a:extLst>
          </p:cNvPr>
          <p:cNvPicPr>
            <a:picLocks/>
          </p:cNvPicPr>
          <p:nvPr userDrawn="1"/>
        </p:nvPicPr>
        <p:blipFill rotWithShape="1">
          <a:blip r:embed="rId3"/>
          <a:srcRect l="15123" r="78338"/>
          <a:stretch/>
        </p:blipFill>
        <p:spPr>
          <a:xfrm>
            <a:off x="0" y="1062294"/>
            <a:ext cx="538132" cy="72000"/>
          </a:xfrm>
          <a:prstGeom prst="rect">
            <a:avLst/>
          </a:prstGeom>
        </p:spPr>
      </p:pic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138F0D38-A2F8-674C-9315-E8297F1852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734" y="1962010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5999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3998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charset="0"/>
                <a:ea typeface="Impact" charset="0"/>
                <a:cs typeface="Impact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26187857-4D16-B048-8D9B-6423B6A378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9195" y="2109871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72335DE5-5088-7341-B0EF-44548B1D6B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9195" y="2377159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1" name="文本占位符 3">
            <a:extLst>
              <a:ext uri="{FF2B5EF4-FFF2-40B4-BE49-F238E27FC236}">
                <a16:creationId xmlns:a16="http://schemas.microsoft.com/office/drawing/2014/main" id="{1295B3BA-4D0D-9F41-A3BB-37C77EE6D0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732" y="3282273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5999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3998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charset="0"/>
                <a:ea typeface="Impact" charset="0"/>
                <a:cs typeface="Impact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5ED93115-C56F-BE45-A99E-16BFCE0969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49195" y="3444927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13AFE2A4-20F9-2A4B-BA89-F5E42F4F12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9195" y="3707846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4" name="文本占位符 3">
            <a:extLst>
              <a:ext uri="{FF2B5EF4-FFF2-40B4-BE49-F238E27FC236}">
                <a16:creationId xmlns:a16="http://schemas.microsoft.com/office/drawing/2014/main" id="{7BA70531-A9BC-2C4E-8608-D3D64D7E3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74807" y="1962010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5999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3998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charset="0"/>
                <a:ea typeface="Impact" charset="0"/>
                <a:cs typeface="Impact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55C836FF-215F-2943-9FED-60411781BC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68658" y="2109871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7D2D8A7E-850B-7345-BE12-AE898CD5E2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68658" y="2377160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7" name="文本占位符 3">
            <a:extLst>
              <a:ext uri="{FF2B5EF4-FFF2-40B4-BE49-F238E27FC236}">
                <a16:creationId xmlns:a16="http://schemas.microsoft.com/office/drawing/2014/main" id="{B095529C-DBB2-474F-A945-48B87F4B44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74807" y="3282273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5999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3998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charset="0"/>
                <a:ea typeface="Impact" charset="0"/>
                <a:cs typeface="Impact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8" name="文本占位符 5">
            <a:extLst>
              <a:ext uri="{FF2B5EF4-FFF2-40B4-BE49-F238E27FC236}">
                <a16:creationId xmlns:a16="http://schemas.microsoft.com/office/drawing/2014/main" id="{967FA6E8-B273-DC49-8E8A-52636E824B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68658" y="3444927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9" name="文本占位符 5">
            <a:extLst>
              <a:ext uri="{FF2B5EF4-FFF2-40B4-BE49-F238E27FC236}">
                <a16:creationId xmlns:a16="http://schemas.microsoft.com/office/drawing/2014/main" id="{6D83249C-A405-2E4C-97F2-F6E6706B82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68658" y="3707847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</p:spTree>
    <p:extLst>
      <p:ext uri="{BB962C8B-B14F-4D97-AF65-F5344CB8AC3E}">
        <p14:creationId xmlns:p14="http://schemas.microsoft.com/office/powerpoint/2010/main" val="2105380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A4A3A4"/>
          </p15:clr>
        </p15:guide>
        <p15:guide id="2" pos="5488" userDrawn="1">
          <p15:clr>
            <a:srgbClr val="A4A3A4"/>
          </p15:clr>
        </p15:guide>
        <p15:guide id="4" orient="horz" pos="3026" userDrawn="1">
          <p15:clr>
            <a:srgbClr val="A4A3A4"/>
          </p15:clr>
        </p15:guide>
        <p15:guide id="5" orient="horz" pos="214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3D9960B-E892-4244-9C93-798E4CE9FE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153594"/>
            <a:ext cx="8280400" cy="36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>
            <a:extLst>
              <a:ext uri="{FF2B5EF4-FFF2-40B4-BE49-F238E27FC236}">
                <a16:creationId xmlns:a16="http://schemas.microsoft.com/office/drawing/2014/main" id="{03F36A56-F886-8540-88C0-9C0686B70B16}"/>
              </a:ext>
            </a:extLst>
          </p:cNvPr>
          <p:cNvCxnSpPr>
            <a:cxnSpLocks/>
          </p:cNvCxnSpPr>
          <p:nvPr userDrawn="1"/>
        </p:nvCxnSpPr>
        <p:spPr>
          <a:xfrm flipV="1">
            <a:off x="431800" y="862652"/>
            <a:ext cx="6641593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A2E75DC-B708-2847-90A1-BA05DCB7F9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351694"/>
            <a:ext cx="6840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B65DCF-A041-6145-9745-B0A228E768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0775" y="324000"/>
            <a:ext cx="1080000" cy="3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78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 userDrawn="1">
          <p15:clr>
            <a:srgbClr val="A4A3A4"/>
          </p15:clr>
        </p15:guide>
        <p15:guide id="2" orient="horz" pos="3026" userDrawn="1">
          <p15:clr>
            <a:srgbClr val="A4A3A4"/>
          </p15:clr>
        </p15:guide>
        <p15:guide id="3" pos="272" userDrawn="1">
          <p15:clr>
            <a:srgbClr val="A4A3A4"/>
          </p15:clr>
        </p15:guide>
        <p15:guide id="4" pos="5488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（双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CB65DCF-A041-6145-9745-B0A228E768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0775" y="324000"/>
            <a:ext cx="1080000" cy="3294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00A688C-AA60-4B44-A647-F4AE9ADB37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352800"/>
            <a:ext cx="6840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单击此处添加正文标题中文</a:t>
            </a:r>
            <a:endParaRPr lang="en-US" dirty="0"/>
          </a:p>
        </p:txBody>
      </p:sp>
      <p:cxnSp>
        <p:nvCxnSpPr>
          <p:cNvPr id="10" name="直接连接符 15">
            <a:extLst>
              <a:ext uri="{FF2B5EF4-FFF2-40B4-BE49-F238E27FC236}">
                <a16:creationId xmlns:a16="http://schemas.microsoft.com/office/drawing/2014/main" id="{83055064-84EB-8642-8F0B-8751F4FE6A9F}"/>
              </a:ext>
            </a:extLst>
          </p:cNvPr>
          <p:cNvCxnSpPr>
            <a:cxnSpLocks/>
          </p:cNvCxnSpPr>
          <p:nvPr userDrawn="1"/>
        </p:nvCxnSpPr>
        <p:spPr>
          <a:xfrm flipV="1">
            <a:off x="431800" y="1030146"/>
            <a:ext cx="6641593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EFF80CB8-9E86-0D4B-8DE7-AEF262AB13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349798"/>
            <a:ext cx="8280400" cy="34397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85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28700" indent="0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71600" indent="0">
              <a:buFontTx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sp>
        <p:nvSpPr>
          <p:cNvPr id="16" name="文本占位符 13">
            <a:extLst>
              <a:ext uri="{FF2B5EF4-FFF2-40B4-BE49-F238E27FC236}">
                <a16:creationId xmlns:a16="http://schemas.microsoft.com/office/drawing/2014/main" id="{F66A4EB9-0BC7-BE43-9383-C3CA258FD3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694729"/>
            <a:ext cx="6840538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单击此处添加正文标题英文</a:t>
            </a:r>
          </a:p>
        </p:txBody>
      </p:sp>
    </p:spTree>
    <p:extLst>
      <p:ext uri="{BB962C8B-B14F-4D97-AF65-F5344CB8AC3E}">
        <p14:creationId xmlns:p14="http://schemas.microsoft.com/office/powerpoint/2010/main" val="848236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 userDrawn="1">
          <p15:clr>
            <a:srgbClr val="A4A3A4"/>
          </p15:clr>
        </p15:guide>
        <p15:guide id="2" orient="horz" pos="3026" userDrawn="1">
          <p15:clr>
            <a:srgbClr val="A4A3A4"/>
          </p15:clr>
        </p15:guide>
        <p15:guide id="3" pos="272" userDrawn="1">
          <p15:clr>
            <a:srgbClr val="A4A3A4"/>
          </p15:clr>
        </p15:guide>
        <p15:guide id="4" pos="5488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A8F114-AE90-B64A-8A08-0D09547259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72769" y="2334150"/>
            <a:ext cx="3198462" cy="4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60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28D3604-14E4-714A-A96D-EA57C2BFFA5E}"/>
              </a:ext>
            </a:extLst>
          </p:cNvPr>
          <p:cNvGrpSpPr/>
          <p:nvPr userDrawn="1"/>
        </p:nvGrpSpPr>
        <p:grpSpPr>
          <a:xfrm>
            <a:off x="-1" y="-450"/>
            <a:ext cx="9144002" cy="5144400"/>
            <a:chOff x="-2" y="-450"/>
            <a:chExt cx="9144002" cy="5144400"/>
          </a:xfrm>
        </p:grpSpPr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BB271F01-ACFE-C941-AA03-DD71D7424DE2}"/>
                </a:ext>
              </a:extLst>
            </p:cNvPr>
            <p:cNvCxnSpPr/>
            <p:nvPr/>
          </p:nvCxnSpPr>
          <p:spPr>
            <a:xfrm>
              <a:off x="457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ED9AD9DF-613A-A04C-A1CB-57ECBB6C5460}"/>
                </a:ext>
              </a:extLst>
            </p:cNvPr>
            <p:cNvCxnSpPr/>
            <p:nvPr/>
          </p:nvCxnSpPr>
          <p:spPr>
            <a:xfrm>
              <a:off x="914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CBAFE889-9A02-A445-9CF5-4A519CC55DF6}"/>
                </a:ext>
              </a:extLst>
            </p:cNvPr>
            <p:cNvCxnSpPr/>
            <p:nvPr/>
          </p:nvCxnSpPr>
          <p:spPr>
            <a:xfrm>
              <a:off x="1371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8401320E-E9BF-8040-9000-754C0043C412}"/>
                </a:ext>
              </a:extLst>
            </p:cNvPr>
            <p:cNvCxnSpPr/>
            <p:nvPr/>
          </p:nvCxnSpPr>
          <p:spPr>
            <a:xfrm>
              <a:off x="1828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98D6325-D1D8-464A-9A2B-12EC9E68F450}"/>
                </a:ext>
              </a:extLst>
            </p:cNvPr>
            <p:cNvCxnSpPr/>
            <p:nvPr/>
          </p:nvCxnSpPr>
          <p:spPr>
            <a:xfrm>
              <a:off x="2286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B3A0A8BF-7C90-224A-BCA2-1930AD73BCC5}"/>
                </a:ext>
              </a:extLst>
            </p:cNvPr>
            <p:cNvCxnSpPr/>
            <p:nvPr/>
          </p:nvCxnSpPr>
          <p:spPr>
            <a:xfrm>
              <a:off x="2743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1EA221B6-89D6-864D-9B64-69918D8C9A5B}"/>
                </a:ext>
              </a:extLst>
            </p:cNvPr>
            <p:cNvCxnSpPr/>
            <p:nvPr/>
          </p:nvCxnSpPr>
          <p:spPr>
            <a:xfrm>
              <a:off x="3200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13E5704-FC26-D74B-A70D-D71DB7888ABE}"/>
                </a:ext>
              </a:extLst>
            </p:cNvPr>
            <p:cNvCxnSpPr/>
            <p:nvPr/>
          </p:nvCxnSpPr>
          <p:spPr>
            <a:xfrm>
              <a:off x="3657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FA993F72-3F56-3741-B7B1-B2DAFBB61CBA}"/>
                </a:ext>
              </a:extLst>
            </p:cNvPr>
            <p:cNvCxnSpPr/>
            <p:nvPr/>
          </p:nvCxnSpPr>
          <p:spPr>
            <a:xfrm>
              <a:off x="4114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D16C59A8-5D1A-5647-8794-936E58443099}"/>
                </a:ext>
              </a:extLst>
            </p:cNvPr>
            <p:cNvCxnSpPr/>
            <p:nvPr/>
          </p:nvCxnSpPr>
          <p:spPr>
            <a:xfrm>
              <a:off x="4572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0D7EC408-A84C-DD4D-836D-52253D472F1C}"/>
                </a:ext>
              </a:extLst>
            </p:cNvPr>
            <p:cNvCxnSpPr/>
            <p:nvPr/>
          </p:nvCxnSpPr>
          <p:spPr>
            <a:xfrm>
              <a:off x="5029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CFE04484-FB66-3B4F-9B45-437052287BF1}"/>
                </a:ext>
              </a:extLst>
            </p:cNvPr>
            <p:cNvCxnSpPr/>
            <p:nvPr/>
          </p:nvCxnSpPr>
          <p:spPr>
            <a:xfrm>
              <a:off x="5486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AA7F6C60-872D-5941-B733-10A25D807153}"/>
                </a:ext>
              </a:extLst>
            </p:cNvPr>
            <p:cNvCxnSpPr/>
            <p:nvPr/>
          </p:nvCxnSpPr>
          <p:spPr>
            <a:xfrm>
              <a:off x="5943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1AC1C43D-E7B8-4843-B44D-98EE188716CA}"/>
                </a:ext>
              </a:extLst>
            </p:cNvPr>
            <p:cNvCxnSpPr/>
            <p:nvPr/>
          </p:nvCxnSpPr>
          <p:spPr>
            <a:xfrm>
              <a:off x="6400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9DE4BD13-7230-B04B-9700-A4D66F260A4D}"/>
                </a:ext>
              </a:extLst>
            </p:cNvPr>
            <p:cNvCxnSpPr/>
            <p:nvPr/>
          </p:nvCxnSpPr>
          <p:spPr>
            <a:xfrm>
              <a:off x="6858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14473E8D-9F3B-5444-8D20-B1A0C8B902BE}"/>
                </a:ext>
              </a:extLst>
            </p:cNvPr>
            <p:cNvCxnSpPr/>
            <p:nvPr/>
          </p:nvCxnSpPr>
          <p:spPr>
            <a:xfrm>
              <a:off x="7315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78358007-BC4F-8C46-BA6B-7EBF61F8D761}"/>
                </a:ext>
              </a:extLst>
            </p:cNvPr>
            <p:cNvCxnSpPr/>
            <p:nvPr/>
          </p:nvCxnSpPr>
          <p:spPr>
            <a:xfrm>
              <a:off x="7772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299DA9C5-F59A-A646-915E-FD865242265E}"/>
                </a:ext>
              </a:extLst>
            </p:cNvPr>
            <p:cNvCxnSpPr/>
            <p:nvPr/>
          </p:nvCxnSpPr>
          <p:spPr>
            <a:xfrm>
              <a:off x="8229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3D7E0036-A4A9-CC4C-A919-E087FF7369DE}"/>
                </a:ext>
              </a:extLst>
            </p:cNvPr>
            <p:cNvCxnSpPr/>
            <p:nvPr/>
          </p:nvCxnSpPr>
          <p:spPr>
            <a:xfrm>
              <a:off x="8686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C40C0072-467E-E143-9B7F-BCDFA4BAF8D8}"/>
                </a:ext>
              </a:extLst>
            </p:cNvPr>
            <p:cNvCxnSpPr/>
            <p:nvPr/>
          </p:nvCxnSpPr>
          <p:spPr>
            <a:xfrm rot="5400000">
              <a:off x="4571999" y="-43148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2A5575A7-91DB-E148-9B50-7B70288A818F}"/>
                </a:ext>
              </a:extLst>
            </p:cNvPr>
            <p:cNvCxnSpPr/>
            <p:nvPr/>
          </p:nvCxnSpPr>
          <p:spPr>
            <a:xfrm rot="5400000">
              <a:off x="4571999" y="-40576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F26B2B80-6AE4-0F45-BEC1-EE45D09E31E0}"/>
                </a:ext>
              </a:extLst>
            </p:cNvPr>
            <p:cNvCxnSpPr/>
            <p:nvPr/>
          </p:nvCxnSpPr>
          <p:spPr>
            <a:xfrm rot="5400000">
              <a:off x="4571999" y="-38004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305937D5-2FCE-4F49-AD02-FF946722EFB1}"/>
                </a:ext>
              </a:extLst>
            </p:cNvPr>
            <p:cNvCxnSpPr/>
            <p:nvPr/>
          </p:nvCxnSpPr>
          <p:spPr>
            <a:xfrm rot="5400000">
              <a:off x="4571999" y="-35433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6C6DB169-7387-FB4A-9365-1C64F5D47270}"/>
                </a:ext>
              </a:extLst>
            </p:cNvPr>
            <p:cNvCxnSpPr/>
            <p:nvPr/>
          </p:nvCxnSpPr>
          <p:spPr>
            <a:xfrm rot="5400000">
              <a:off x="4571999" y="-32861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BCA9CE72-3FC8-2244-89FB-94CF2D51AD1A}"/>
                </a:ext>
              </a:extLst>
            </p:cNvPr>
            <p:cNvCxnSpPr/>
            <p:nvPr/>
          </p:nvCxnSpPr>
          <p:spPr>
            <a:xfrm rot="5400000">
              <a:off x="4571999" y="-30289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1C1EEB46-A29E-694A-9657-9F28D43B19AE}"/>
                </a:ext>
              </a:extLst>
            </p:cNvPr>
            <p:cNvCxnSpPr/>
            <p:nvPr/>
          </p:nvCxnSpPr>
          <p:spPr>
            <a:xfrm rot="5400000">
              <a:off x="4571999" y="-27717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07AB36EA-5851-1F4A-95C4-0A632054AD6A}"/>
                </a:ext>
              </a:extLst>
            </p:cNvPr>
            <p:cNvCxnSpPr/>
            <p:nvPr/>
          </p:nvCxnSpPr>
          <p:spPr>
            <a:xfrm rot="5400000">
              <a:off x="4571999" y="-25146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CB9599A8-B19E-7445-BDFB-AD3590548081}"/>
                </a:ext>
              </a:extLst>
            </p:cNvPr>
            <p:cNvCxnSpPr/>
            <p:nvPr/>
          </p:nvCxnSpPr>
          <p:spPr>
            <a:xfrm rot="5400000">
              <a:off x="4571999" y="-22574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958C58CD-A59E-354F-97D2-E241B0A8F396}"/>
                </a:ext>
              </a:extLst>
            </p:cNvPr>
            <p:cNvCxnSpPr/>
            <p:nvPr/>
          </p:nvCxnSpPr>
          <p:spPr>
            <a:xfrm rot="5400000">
              <a:off x="4571999" y="-20002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CC533164-772B-5A45-A2C1-849ECD881996}"/>
                </a:ext>
              </a:extLst>
            </p:cNvPr>
            <p:cNvCxnSpPr/>
            <p:nvPr/>
          </p:nvCxnSpPr>
          <p:spPr>
            <a:xfrm rot="5400000">
              <a:off x="4571999" y="-17430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43DF150B-2BBB-5746-8CD8-19C44DEF1B1E}"/>
                </a:ext>
              </a:extLst>
            </p:cNvPr>
            <p:cNvCxnSpPr/>
            <p:nvPr/>
          </p:nvCxnSpPr>
          <p:spPr>
            <a:xfrm rot="5400000">
              <a:off x="4571999" y="-14859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510AA182-B1F7-EB40-BD31-5EEACD59063B}"/>
                </a:ext>
              </a:extLst>
            </p:cNvPr>
            <p:cNvCxnSpPr/>
            <p:nvPr/>
          </p:nvCxnSpPr>
          <p:spPr>
            <a:xfrm rot="5400000">
              <a:off x="4571999" y="-12287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9C756DB-C6CD-CE49-BFAF-7F143CBE7614}"/>
                </a:ext>
              </a:extLst>
            </p:cNvPr>
            <p:cNvCxnSpPr/>
            <p:nvPr/>
          </p:nvCxnSpPr>
          <p:spPr>
            <a:xfrm rot="5400000">
              <a:off x="4571999" y="-9715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8C6AEB88-D382-DC4D-AA11-D31E3DA7FAD1}"/>
                </a:ext>
              </a:extLst>
            </p:cNvPr>
            <p:cNvCxnSpPr/>
            <p:nvPr/>
          </p:nvCxnSpPr>
          <p:spPr>
            <a:xfrm rot="5400000">
              <a:off x="4571999" y="-7143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09F9BC27-0CF3-454A-A984-96960605234B}"/>
                </a:ext>
              </a:extLst>
            </p:cNvPr>
            <p:cNvCxnSpPr/>
            <p:nvPr/>
          </p:nvCxnSpPr>
          <p:spPr>
            <a:xfrm rot="5400000">
              <a:off x="4571999" y="-4572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827384E4-C88C-1849-8CBE-45250709F8B3}"/>
                </a:ext>
              </a:extLst>
            </p:cNvPr>
            <p:cNvCxnSpPr/>
            <p:nvPr/>
          </p:nvCxnSpPr>
          <p:spPr>
            <a:xfrm rot="5400000">
              <a:off x="4571999" y="-2000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60C1B543-249A-8E42-A361-CE90917376A8}"/>
                </a:ext>
              </a:extLst>
            </p:cNvPr>
            <p:cNvCxnSpPr/>
            <p:nvPr/>
          </p:nvCxnSpPr>
          <p:spPr>
            <a:xfrm rot="5400000">
              <a:off x="4571999" y="57149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2A3287FC-7DBE-834F-8B5B-1F1D83AF517F}"/>
                </a:ext>
              </a:extLst>
            </p:cNvPr>
            <p:cNvCxnSpPr/>
            <p:nvPr/>
          </p:nvCxnSpPr>
          <p:spPr>
            <a:xfrm rot="5400000">
              <a:off x="4571999" y="314324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GSEDS_d46a6755_9afa53b9_1_3">
            <a:extLst>
              <a:ext uri="{FF2B5EF4-FFF2-40B4-BE49-F238E27FC236}">
                <a16:creationId xmlns:a16="http://schemas.microsoft.com/office/drawing/2014/main" id="{09FDDF39-F940-46E3-BF6D-C761C298D120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1616704" y="2067894"/>
            <a:ext cx="5910592" cy="1007712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47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38660    2026-05-09</a:t>
            </a:r>
            <a:endParaRPr kumimoji="0" lang="zh-CN" altLang="en-US" sz="4700" b="0" i="0" u="none" normalizeH="0" dirty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749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4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butterfly.dahuatech.com/pages/viewpage.action?pageId=112853606" TargetMode="External"/><Relationship Id="rId3" Type="http://schemas.openxmlformats.org/officeDocument/2006/relationships/hyperlink" Target="https://butterfly.dahuatech.com/pages/viewpage.action?pageId=112856096" TargetMode="External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hyperlink" Target="http://aicoflow.dahuatech.com:5001/exprts" TargetMode="External"/><Relationship Id="rId5" Type="http://schemas.openxmlformats.org/officeDocument/2006/relationships/hyperlink" Target="http://npm.dahuatech.com/-/web/detail/@evo-web/huachat-notify-mcp" TargetMode="External"/><Relationship Id="rId6" Type="http://schemas.openxmlformats.org/officeDocument/2006/relationships/hyperlink" Target="https://butterfly.dahuatech.com/pages/viewpage.action?pageId=112865765" TargetMode="External"/><Relationship Id="rId7" Type="http://schemas.openxmlformats.org/officeDocument/2006/relationships/hyperlink" Target="https://butterfly.dahuatech.com/pages/viewpage.action?pageId=112853606" TargetMode="External"/><Relationship Id="rId8" Type="http://schemas.openxmlformats.org/officeDocument/2006/relationships/hyperlink" Target="https://butterfly.dahuatech.com/pages/viewpage.action?pageId=112856096" TargetMode="External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8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696" b="34696"/>
          <a:stretch/>
        </p:blipFill>
        <p:spPr/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5934249" y="3991090"/>
            <a:ext cx="3122002" cy="124541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t>      </a:t>
            </a:r>
            <a:br/>
            <a:r>
              <a:t>  软件平台研发部 张聪</a:t>
            </a:r>
            <a:br/>
            <a:r>
              <a:t>2026 05 31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914400" y="1069712"/>
            <a:ext cx="7764150" cy="97257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t>AICoding 需求与实现过程上报及可视化统计分析</a:t>
            </a:r>
            <a:br/>
            <a:r>
              <a:t>2026.05 – 进行中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85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9263D-C3AA-8C4A-82B8-1CE2566AB5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1800" y="1167775"/>
            <a:ext cx="8280400" cy="3636000"/>
          </a:xfrm>
        </p:spPr>
        <p:txBody>
          <a:bodyPr numCol="2" spcCol="720000"/>
          <a:lstStyle/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字号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latin typeface="微软雅黑"/>
                <a:ea typeface="微软雅黑"/>
              </a:rPr>
              <a:t>普通文本：建议</a:t>
            </a:r>
            <a:r>
              <a:rPr lang="en-US" altLang="zh-CN" sz="1100" kern="1600" dirty="0">
                <a:latin typeface="微软雅黑"/>
                <a:ea typeface="微软雅黑"/>
              </a:rPr>
              <a:t>8~14pt</a:t>
            </a: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latin typeface="微软雅黑"/>
                <a:ea typeface="微软雅黑"/>
              </a:rPr>
              <a:t>重点文本：建议</a:t>
            </a:r>
            <a:r>
              <a:rPr lang="en-US" altLang="zh-CN" sz="1100" kern="1600" dirty="0">
                <a:latin typeface="微软雅黑"/>
                <a:ea typeface="微软雅黑"/>
              </a:rPr>
              <a:t>16~20pt</a:t>
            </a:r>
          </a:p>
          <a:p>
            <a:pPr>
              <a:lnSpc>
                <a:spcPct val="135000"/>
              </a:lnSpc>
            </a:pPr>
            <a:endParaRPr lang="en-US" altLang="zh-CN" sz="1200" kern="1600" dirty="0">
              <a:latin typeface="微软雅黑"/>
              <a:ea typeface="微软雅黑"/>
            </a:endParaRPr>
          </a:p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字体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latin typeface="微软雅黑"/>
                <a:ea typeface="微软雅黑"/>
              </a:rPr>
              <a:t>普通文本：微软雅黑 </a:t>
            </a:r>
            <a:r>
              <a:rPr lang="en-US" altLang="zh-CN" sz="1100" kern="1600" dirty="0">
                <a:latin typeface="微软雅黑"/>
                <a:ea typeface="微软雅黑"/>
              </a:rPr>
              <a:t>Regular</a:t>
            </a:r>
            <a:endParaRPr lang="en-US" altLang="zh-CN" sz="1100" b="1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1100" b="1" kern="1600" dirty="0">
                <a:latin typeface="微软雅黑"/>
                <a:ea typeface="微软雅黑"/>
              </a:rPr>
              <a:t>重点文本：微软雅黑 </a:t>
            </a:r>
            <a:r>
              <a:rPr lang="en-US" altLang="zh-CN" sz="1100" b="1" kern="1600" dirty="0">
                <a:latin typeface="微软雅黑"/>
                <a:ea typeface="微软雅黑"/>
              </a:rPr>
              <a:t>Bold</a:t>
            </a:r>
          </a:p>
          <a:p>
            <a:pPr>
              <a:lnSpc>
                <a:spcPct val="135000"/>
              </a:lnSpc>
            </a:pPr>
            <a:endParaRPr lang="en-US" altLang="zh-CN" sz="1100" b="1" kern="1600" dirty="0">
              <a:latin typeface="微软雅黑"/>
              <a:ea typeface="微软雅黑"/>
            </a:endParaRPr>
          </a:p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行距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latin typeface="微软雅黑"/>
                <a:ea typeface="微软雅黑"/>
              </a:rPr>
              <a:t>建议</a:t>
            </a:r>
            <a:r>
              <a:rPr lang="en-US" altLang="zh-CN" sz="1100" kern="1600" dirty="0">
                <a:latin typeface="微软雅黑"/>
                <a:ea typeface="微软雅黑"/>
              </a:rPr>
              <a:t>1~1.5</a:t>
            </a:r>
            <a:r>
              <a:rPr lang="zh-CN" altLang="en-US" sz="1100" kern="1600" dirty="0">
                <a:latin typeface="微软雅黑"/>
                <a:ea typeface="微软雅黑"/>
              </a:rPr>
              <a:t>倍行距</a:t>
            </a:r>
            <a:endParaRPr lang="en-US" altLang="zh-CN" sz="1100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endParaRPr lang="en-US" altLang="zh-CN" sz="1100" kern="1600" dirty="0">
              <a:latin typeface="微软雅黑"/>
              <a:ea typeface="微软雅黑"/>
            </a:endParaRPr>
          </a:p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注意事项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en-US" altLang="zh-CN" sz="1100" kern="1600" dirty="0">
                <a:latin typeface="微软雅黑"/>
                <a:ea typeface="微软雅黑"/>
              </a:rPr>
              <a:t>1.</a:t>
            </a:r>
            <a:r>
              <a:rPr lang="zh-CN" altLang="en-US" sz="1100" kern="1600" dirty="0">
                <a:latin typeface="微软雅黑"/>
                <a:ea typeface="微软雅黑"/>
              </a:rPr>
              <a:t> 一般情况下，不建议</a:t>
            </a:r>
            <a:r>
              <a:rPr lang="zh-CN" altLang="en-US" sz="1100" i="1" kern="1600" dirty="0">
                <a:latin typeface="微软雅黑"/>
                <a:ea typeface="微软雅黑"/>
              </a:rPr>
              <a:t>倾斜字体</a:t>
            </a:r>
            <a:endParaRPr lang="en-US" altLang="zh-CN" sz="1100" i="1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en-US" altLang="zh-CN" sz="1100" kern="1600" dirty="0">
                <a:latin typeface="微软雅黑"/>
                <a:ea typeface="微软雅黑"/>
              </a:rPr>
              <a:t>2.</a:t>
            </a:r>
            <a:r>
              <a:rPr lang="zh-CN" altLang="en-US" sz="1100" kern="1600" dirty="0">
                <a:latin typeface="微软雅黑"/>
                <a:ea typeface="微软雅黑"/>
              </a:rPr>
              <a:t> 内容应不超出四周参考线规定范围</a:t>
            </a:r>
            <a:endParaRPr lang="en-US" altLang="zh-CN" sz="1800" b="1" kern="1600" dirty="0">
              <a:latin typeface="微软雅黑"/>
              <a:ea typeface="微软雅黑"/>
            </a:endParaRPr>
          </a:p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文本颜色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latin typeface="微软雅黑"/>
                <a:ea typeface="微软雅黑"/>
              </a:rPr>
              <a:t>普通文本：深灰，颜色编号</a:t>
            </a:r>
            <a:r>
              <a:rPr lang="en-US" altLang="zh-CN" sz="1100" kern="1600" dirty="0">
                <a:latin typeface="微软雅黑"/>
                <a:ea typeface="微软雅黑"/>
              </a:rPr>
              <a:t>#404040</a:t>
            </a: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solidFill>
                  <a:srgbClr val="CD0000"/>
                </a:solidFill>
                <a:latin typeface="微软雅黑"/>
                <a:ea typeface="微软雅黑"/>
              </a:rPr>
              <a:t>重点文本</a:t>
            </a:r>
            <a:r>
              <a:rPr lang="en-US" altLang="zh-CN" sz="1100" kern="1600" dirty="0">
                <a:solidFill>
                  <a:srgbClr val="CD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100" kern="1600" dirty="0">
                <a:solidFill>
                  <a:srgbClr val="CD0000"/>
                </a:solidFill>
                <a:latin typeface="微软雅黑"/>
                <a:ea typeface="微软雅黑"/>
              </a:rPr>
              <a:t>：红色，颜色编号</a:t>
            </a:r>
            <a:r>
              <a:rPr lang="en-US" altLang="zh-CN" sz="1100" kern="1600" dirty="0">
                <a:solidFill>
                  <a:srgbClr val="CD0000"/>
                </a:solidFill>
                <a:latin typeface="微软雅黑"/>
                <a:ea typeface="微软雅黑"/>
              </a:rPr>
              <a:t>#CD0000</a:t>
            </a:r>
          </a:p>
          <a:p>
            <a:pPr>
              <a:lnSpc>
                <a:spcPct val="135000"/>
              </a:lnSpc>
            </a:pPr>
            <a:r>
              <a:rPr lang="zh-CN" altLang="en-US" sz="1100" kern="1600" dirty="0">
                <a:solidFill>
                  <a:srgbClr val="0070C0"/>
                </a:solidFill>
                <a:latin typeface="微软雅黑"/>
                <a:ea typeface="微软雅黑"/>
              </a:rPr>
              <a:t>重点文本</a:t>
            </a:r>
            <a:r>
              <a:rPr lang="en-US" altLang="zh-CN" sz="1100" kern="1600" dirty="0">
                <a:solidFill>
                  <a:srgbClr val="0070C0"/>
                </a:solidFill>
                <a:latin typeface="微软雅黑"/>
                <a:ea typeface="微软雅黑"/>
              </a:rPr>
              <a:t>2</a:t>
            </a:r>
            <a:r>
              <a:rPr lang="zh-CN" altLang="en-US" sz="1100" kern="1600" dirty="0">
                <a:solidFill>
                  <a:srgbClr val="0070C0"/>
                </a:solidFill>
                <a:latin typeface="微软雅黑"/>
                <a:ea typeface="微软雅黑"/>
              </a:rPr>
              <a:t>：蓝色，颜色编号</a:t>
            </a:r>
            <a:r>
              <a:rPr lang="en-US" altLang="zh-CN" sz="1100" kern="1600" dirty="0">
                <a:solidFill>
                  <a:srgbClr val="0070C0"/>
                </a:solidFill>
                <a:latin typeface="微软雅黑"/>
                <a:ea typeface="微软雅黑"/>
              </a:rPr>
              <a:t>#0070C0</a:t>
            </a:r>
          </a:p>
          <a:p>
            <a:pPr>
              <a:lnSpc>
                <a:spcPct val="135000"/>
              </a:lnSpc>
            </a:pPr>
            <a:endParaRPr lang="en-US" altLang="zh-CN" sz="1200" i="1" kern="1600" dirty="0">
              <a:latin typeface="微软雅黑"/>
              <a:ea typeface="微软雅黑"/>
            </a:endParaRPr>
          </a:p>
          <a:p>
            <a:pPr marL="129600" indent="-129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kern="1600" dirty="0">
                <a:latin typeface="微软雅黑"/>
                <a:ea typeface="微软雅黑"/>
              </a:rPr>
              <a:t>整体配色指导  </a:t>
            </a:r>
            <a:endParaRPr lang="en-US" altLang="zh-CN" kern="1600" dirty="0"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r>
              <a:rPr lang="zh-CN" altLang="en-US" sz="900" kern="1600" dirty="0">
                <a:latin typeface="微软雅黑"/>
                <a:ea typeface="微软雅黑"/>
              </a:rPr>
              <a:t>当需要使用多种颜色时推荐以下组合方案，可用格式刷复制或吸管吸取</a:t>
            </a:r>
            <a:endParaRPr lang="en-US" altLang="zh-CN" sz="1600" kern="1600" dirty="0">
              <a:latin typeface="微软雅黑"/>
              <a:ea typeface="微软雅黑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B3E36A-00D0-624A-B5AD-20B89202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内文格式规范说明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C404C9-1BA2-0042-BC48-64B6CE7FD8DB}"/>
              </a:ext>
            </a:extLst>
          </p:cNvPr>
          <p:cNvGrpSpPr>
            <a:grpSpLocks noChangeAspect="1"/>
          </p:cNvGrpSpPr>
          <p:nvPr/>
        </p:nvGrpSpPr>
        <p:grpSpPr>
          <a:xfrm>
            <a:off x="4927685" y="2970277"/>
            <a:ext cx="1857290" cy="729604"/>
            <a:chOff x="4939562" y="3434631"/>
            <a:chExt cx="2472940" cy="97145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ED2F473-2A0F-484F-8D96-3D725A879C21}"/>
                </a:ext>
              </a:extLst>
            </p:cNvPr>
            <p:cNvSpPr/>
            <p:nvPr/>
          </p:nvSpPr>
          <p:spPr>
            <a:xfrm>
              <a:off x="4939562" y="3434631"/>
              <a:ext cx="2472940" cy="440089"/>
            </a:xfrm>
            <a:prstGeom prst="rect">
              <a:avLst/>
            </a:prstGeom>
            <a:noFill/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0E06C4C-E4D6-C543-9AF9-F7FEF293D161}"/>
                </a:ext>
              </a:extLst>
            </p:cNvPr>
            <p:cNvSpPr/>
            <p:nvPr/>
          </p:nvSpPr>
          <p:spPr>
            <a:xfrm>
              <a:off x="4939562" y="3965993"/>
              <a:ext cx="2472940" cy="440089"/>
            </a:xfrm>
            <a:prstGeom prst="rect">
              <a:avLst/>
            </a:prstGeom>
            <a:noFill/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4839F35-B527-144F-8515-33D227ED04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3778" y="3510676"/>
              <a:ext cx="288000" cy="288000"/>
            </a:xfrm>
            <a:prstGeom prst="rect">
              <a:avLst/>
            </a:prstGeom>
            <a:solidFill>
              <a:srgbClr val="C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3DA3F22-FF62-2241-9B22-AB10DCEA9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0894" y="3510676"/>
              <a:ext cx="288000" cy="288000"/>
            </a:xfrm>
            <a:prstGeom prst="rect">
              <a:avLst/>
            </a:prstGeom>
            <a:solidFill>
              <a:srgbClr val="8B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F731BCF-C32B-B944-89E4-CE19D7D8C9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36661" y="3510676"/>
              <a:ext cx="288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2C51FCD-01F2-2346-A247-0A4B317DBC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2427" y="3510676"/>
              <a:ext cx="288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F054BA-E575-A74C-B613-841612A9A4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9543" y="3510676"/>
              <a:ext cx="288000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21EC1BC-D502-EC47-AB15-0FE89CFA7C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1474" y="4042038"/>
              <a:ext cx="288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3AB53CC-BC62-4A4C-9C86-C2692EE620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34358" y="4042038"/>
              <a:ext cx="288000" cy="288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6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A8AFF35-6B72-234A-B52F-7C7D5E9C94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591" y="4042038"/>
              <a:ext cx="288000" cy="288000"/>
            </a:xfrm>
            <a:prstGeom prst="rect">
              <a:avLst/>
            </a:prstGeom>
            <a:solidFill>
              <a:srgbClr val="CD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6A67E5A-B0C8-9B42-91A3-7297EA59A4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7240" y="4042038"/>
              <a:ext cx="288000" cy="28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C0DB6C8-C6D7-1A47-9CFF-A198A12717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123" y="4042038"/>
              <a:ext cx="288000" cy="288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B713F8E-E229-AC44-8744-130A53C07883}"/>
                </a:ext>
              </a:extLst>
            </p:cNvPr>
            <p:cNvSpPr/>
            <p:nvPr/>
          </p:nvSpPr>
          <p:spPr>
            <a:xfrm>
              <a:off x="4974769" y="3490757"/>
              <a:ext cx="687692" cy="32783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/>
              <a:r>
                <a:rPr lang="zh-CN" altLang="en-US" sz="1000" kern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方案</a:t>
              </a:r>
              <a:r>
                <a:rPr lang="en-US" altLang="zh-CN" sz="1000" kern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1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6BE9898-8959-0943-AF76-E173E7F589B4}"/>
                </a:ext>
              </a:extLst>
            </p:cNvPr>
            <p:cNvSpPr/>
            <p:nvPr/>
          </p:nvSpPr>
          <p:spPr>
            <a:xfrm>
              <a:off x="4974769" y="4022119"/>
              <a:ext cx="687692" cy="32783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/>
              <a:r>
                <a:rPr lang="zh-CN" altLang="en-US" sz="1000" kern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方案</a:t>
              </a:r>
              <a:r>
                <a:rPr lang="en-US" altLang="zh-CN" sz="1000" kern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2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1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89534" y="2392589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01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572995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专项概述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516993" y="2377796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4200456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专项成果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5803483" y="2392589"/>
            <a:ext cx="576000" cy="684000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6497334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404040"/>
                </a:solidFill>
              </a:rPr>
              <a:t>专项后续计划</a:t>
            </a:r>
          </a:p>
        </p:txBody>
      </p:sp>
    </p:spTree>
    <p:extLst>
      <p:ext uri="{BB962C8B-B14F-4D97-AF65-F5344CB8AC3E}">
        <p14:creationId xmlns:p14="http://schemas.microsoft.com/office/powerpoint/2010/main" val="344060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799" y="913752"/>
            <a:ext cx="8280400" cy="3636000"/>
          </a:xfrm>
        </p:spPr>
        <p:txBody>
          <a:bodyPr/>
          <a:lstStyle/>
          <a:p>
            <a:r>
              <a:t>专项背景及意义：</a:t>
            </a:r>
            <a:br/>
            <a:r>
              <a:t>        目前团队开发已全面转向 AICoding 工具进行编码开发。一次需求从提问到交付，往往涉及多轮对话、Sub-Agent 委派、Skill 调用、Spec 维护与 Git 提交——但这些过程只存在于本地会话历史和工作区文件中。</a:t>
            </a:r>
            <a:br/>
            <a:r>
              <a:t>        由此带来三个痛点：</a:t>
            </a:r>
            <a:br/>
            <a:r>
              <a:t>        1. 需求完成后无结构化总结，无法复盘 Agent/Skill 使用与耗时分布</a:t>
            </a:r>
            <a:br/>
            <a:r>
              <a:t>        2. 管理者缺乏可见性，无法按项目/仓库/分支聚合 AI 资产使用情况</a:t>
            </a:r>
            <a:br/>
            <a:r>
              <a:t>        3. 协作平台数据断层，只能展示「有什么」，不能展示「怎么用的」</a:t>
            </a:r>
            <a:br/>
            <a:r>
              <a:t>        本专项目标：每轮回复前自动维护本地流水线状态并同步上报，让开发过程可追踪、可聚合、可可视化。</a:t>
            </a:r>
            <a:br/>
            <a:r>
              <a:t>整体目标及达成情况：</a:t>
            </a:r>
            <a:br/>
            <a:r>
              <a:t>        构建零侵入、规则驱动的开发过程上报机制：</a:t>
            </a:r>
            <a:br/>
            <a:r>
              <a:t>        · 开发者侧：Project Rule + Skill，AI 每轮自动 init/更新/sync</a:t>
            </a:r>
            <a:br/>
            <a:r>
              <a:t>        · 平台侧：接收 pipeline-status JSON，多维度展示</a:t>
            </a:r>
            <a:br/>
            <a:r>
              <a:t>        · 管理者侧：按 Git 仓库/分支/工号查看 AICoding 开发实况</a:t>
            </a:r>
            <a:endParaRPr lang="en-US" altLang="zh-CN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一、专项概述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674450"/>
              </p:ext>
            </p:extLst>
          </p:nvPr>
        </p:nvGraphicFramePr>
        <p:xfrm>
          <a:off x="336550" y="2706147"/>
          <a:ext cx="8388350" cy="1665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790">
                  <a:extLst>
                    <a:ext uri="{9D8B030D-6E8A-4147-A177-3AD203B41FA5}">
                      <a16:colId xmlns:a16="http://schemas.microsoft.com/office/drawing/2014/main" val="2149716425"/>
                    </a:ext>
                  </a:extLst>
                </a:gridCol>
                <a:gridCol w="1905451">
                  <a:extLst>
                    <a:ext uri="{9D8B030D-6E8A-4147-A177-3AD203B41FA5}">
                      <a16:colId xmlns:a16="http://schemas.microsoft.com/office/drawing/2014/main" val="2533477320"/>
                    </a:ext>
                  </a:extLst>
                </a:gridCol>
                <a:gridCol w="896293">
                  <a:extLst>
                    <a:ext uri="{9D8B030D-6E8A-4147-A177-3AD203B41FA5}">
                      <a16:colId xmlns:a16="http://schemas.microsoft.com/office/drawing/2014/main" val="3045035114"/>
                    </a:ext>
                  </a:extLst>
                </a:gridCol>
                <a:gridCol w="908266">
                  <a:extLst>
                    <a:ext uri="{9D8B030D-6E8A-4147-A177-3AD203B41FA5}">
                      <a16:colId xmlns:a16="http://schemas.microsoft.com/office/drawing/2014/main" val="382956531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48866222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710612521"/>
                    </a:ext>
                  </a:extLst>
                </a:gridCol>
              </a:tblGrid>
              <a:tr h="287207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整体目标项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具体内容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衡量指标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计划时间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执行情况（具体指标）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777592"/>
                  </a:ext>
                </a:extLst>
              </a:tr>
              <a:tr h="356334">
                <a:tc>
                  <a:txBody>
                    <a:bodyPr/>
                    <a:lstStyle/>
                    <a:p>
                      <a:r>
                        <a:t>目标（O）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实现 AICoding 需求与实现过程自动上报及可视化统计分析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 v1.2.0 已发布；Project Rule 已接入；上报 API 联调通过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进行中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448199"/>
                  </a:ext>
                </a:extLst>
              </a:tr>
              <a:tr h="483248">
                <a:tc>
                  <a:txBody>
                    <a:bodyPr/>
                    <a:lstStyle/>
                    <a:p>
                      <a:r>
                        <a:t>子关键成果（KR1）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本地 pipeline-status 状态文件与 init/sync 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pipeline-status-report Skill 含 init/sync 脚本与协议文档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已达成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781640"/>
                  </a:ext>
                </a:extLst>
              </a:tr>
              <a:tr h="483248">
                <a:tc>
                  <a:txBody>
                    <a:bodyPr/>
                    <a:lstStyle/>
                    <a:p>
                      <a:r>
                        <a:t>子关键成果（KR2）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 Rule 驱动 AI 每轮自动维护并同步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agent-info-report 规则已启用；配合 huachat-notify 任务完成通知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已达成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003836"/>
                  </a:ext>
                </a:extLst>
              </a:tr>
              <a:tr h="483248">
                <a:tc>
                  <a:txBody>
                    <a:bodyPr/>
                    <a:lstStyle/>
                    <a:p>
                      <a:r>
                        <a:t>子关键成果（KR3）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平台端会话/流水线/步骤可视化展示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2026年5–6月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平台 PUT API 已对接；前端看板待完善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进行中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00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15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96B3E36A-00D0-624A-B5AD-20B8920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51694"/>
            <a:ext cx="6840000" cy="307777"/>
          </a:xfrm>
        </p:spPr>
        <p:txBody>
          <a:bodyPr/>
          <a:lstStyle/>
          <a:p>
            <a:r>
              <a:rPr lang="zh-CN" altLang="en-US" dirty="0"/>
              <a:t>一、专项概述</a:t>
            </a:r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44773" y="1332351"/>
            <a:ext cx="54639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4435">
              <a:spcBef>
                <a:spcPct val="20000"/>
              </a:spcBef>
              <a:buClr>
                <a:srgbClr val="CC9900"/>
              </a:buClr>
            </a:pPr>
            <a:r>
              <a:t>● 专项整体设计思路图（双通道并行上报架构）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4773" y="963019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交互链路：用户提问 → CodeBuddy → 主 Agent → 子 Agent/Skill 执行循环 → 结果返回</a:t>
            </a:r>
            <a:br/>
            <a:r>
              <a:t>通道一 Pipeline 结构化状态：spec/AI2AI/数据上报/pipeline-status-{hash8}.json</a:t>
            </a:r>
            <a:br/>
            <a:r>
              <a:t>         init → 规划/更新 → sync → PUT /api/v1/agent/sessions/{session_id}</a:t>
            </a:r>
            <a:br/>
            <a:r>
              <a:t>通道二 花茶即时通知：任务完成 / 待确认时 MCP 推送</a:t>
            </a:r>
            <a:br/>
            <a:r>
              <a:t>平台展示：项目管理页（仓库/分支聚合）+ 需求详情页（首问/流水线/Skill 清单）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AB9E6C9-F11E-40AC-B7ED-A4D1E9E9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835150"/>
            <a:ext cx="3055858" cy="28766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493772-231C-4A02-9AB4-982FE9661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51" y="1761194"/>
            <a:ext cx="3340637" cy="3024515"/>
          </a:xfrm>
          <a:prstGeom prst="rect">
            <a:avLst/>
          </a:prstGeom>
        </p:spPr>
      </p:pic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0D4E766E-B10B-4EC8-B480-A55E9193B31F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 flipH="1" flipV="1">
            <a:off x="2124795" y="2209498"/>
            <a:ext cx="2337190" cy="2667322"/>
          </a:xfrm>
          <a:prstGeom prst="bentConnector4">
            <a:avLst>
              <a:gd name="adj1" fmla="val -9781"/>
              <a:gd name="adj2" fmla="val 786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E8F3891-E3B8-46EC-A6E2-656E9AC4659B}"/>
              </a:ext>
            </a:extLst>
          </p:cNvPr>
          <p:cNvSpPr txBox="1"/>
          <p:nvPr/>
        </p:nvSpPr>
        <p:spPr>
          <a:xfrm>
            <a:off x="3734189" y="3454400"/>
            <a:ext cx="646331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t>Pipeline 状态上报</a:t>
            </a:r>
          </a:p>
        </p:txBody>
      </p:sp>
    </p:spTree>
    <p:extLst>
      <p:ext uri="{BB962C8B-B14F-4D97-AF65-F5344CB8AC3E}">
        <p14:creationId xmlns:p14="http://schemas.microsoft.com/office/powerpoint/2010/main" val="185627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CC3B-646D-4433-9C4C-329C36A2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26E3FAB-7C13-8389-434B-067E9CCCA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534" y="2392589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1A35F3-6A00-4CDE-6E59-F210034CA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995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404040"/>
                </a:solidFill>
              </a:rPr>
              <a:t>专项概述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045FB8-A2CE-989C-F322-E330B57D9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16993" y="2377796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02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625DA10-AE77-B779-80A0-D9F0F7DE4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0456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专项成果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57BA0646-F7FD-2160-2445-F5A21229AC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3483" y="2392589"/>
            <a:ext cx="576000" cy="684000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99F545E-8CDE-034F-96AD-2507FBD3B8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7334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404040"/>
                </a:solidFill>
              </a:rPr>
              <a:t>专项后续计划</a:t>
            </a:r>
          </a:p>
        </p:txBody>
      </p:sp>
    </p:spTree>
    <p:extLst>
      <p:ext uri="{BB962C8B-B14F-4D97-AF65-F5344CB8AC3E}">
        <p14:creationId xmlns:p14="http://schemas.microsoft.com/office/powerpoint/2010/main" val="242900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二、专项成果-成果展示|本地状态与上报协议</a:t>
            </a: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E7E25FB0-D2C5-9BE7-D37A-C5DBBFF0FAAD}"/>
              </a:ext>
            </a:extLst>
          </p:cNvPr>
          <p:cNvSpPr/>
          <p:nvPr/>
        </p:nvSpPr>
        <p:spPr>
          <a:xfrm>
            <a:off x="210538" y="1718674"/>
            <a:ext cx="4150268" cy="2561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5">
            <a:extLst>
              <a:ext uri="{FF2B5EF4-FFF2-40B4-BE49-F238E27FC236}">
                <a16:creationId xmlns:a16="http://schemas.microsoft.com/office/drawing/2014/main" id="{794A815E-0BED-3E92-1806-C74E393E73F3}"/>
              </a:ext>
            </a:extLst>
          </p:cNvPr>
          <p:cNvSpPr txBox="1"/>
          <p:nvPr/>
        </p:nvSpPr>
        <p:spPr>
          <a:xfrm>
            <a:off x="204784" y="1444310"/>
            <a:ext cx="4150268" cy="274362"/>
          </a:xfrm>
          <a:prstGeom prst="rect">
            <a:avLst/>
          </a:prstGeom>
          <a:gradFill>
            <a:gsLst>
              <a:gs pos="63300">
                <a:srgbClr val="0870E0"/>
              </a:gs>
              <a:gs pos="0">
                <a:srgbClr val="0D33AB"/>
              </a:gs>
              <a:gs pos="100000">
                <a:srgbClr val="059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867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55">
              <a:lnSpc>
                <a:spcPct val="130000"/>
              </a:lnSpc>
              <a:buClr>
                <a:srgbClr val="E66800"/>
              </a:buClr>
            </a:pPr>
            <a:r>
              <a:t>pipeline-status-report Skill（v1.2.0）：维护本地状态并同步到协作平台</a:t>
            </a: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30B28AED-D35B-ABA9-D201-CCAA63704882}"/>
              </a:ext>
            </a:extLst>
          </p:cNvPr>
          <p:cNvSpPr txBox="1"/>
          <p:nvPr/>
        </p:nvSpPr>
        <p:spPr>
          <a:xfrm>
            <a:off x="4431833" y="1443104"/>
            <a:ext cx="4584067" cy="265502"/>
          </a:xfrm>
          <a:prstGeom prst="rect">
            <a:avLst/>
          </a:prstGeom>
          <a:gradFill>
            <a:gsLst>
              <a:gs pos="35000">
                <a:srgbClr val="4C7BFE"/>
              </a:gs>
              <a:gs pos="99000">
                <a:srgbClr val="0AFFFF"/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rgbClr val="4C7BFE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 defTabSz="1219170">
              <a:lnSpc>
                <a:spcPct val="130000"/>
              </a:lnSpc>
              <a:buClr>
                <a:srgbClr val="E66800"/>
              </a:buClr>
              <a:defRPr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核心能力</a:t>
            </a:r>
          </a:p>
        </p:txBody>
      </p:sp>
      <p:sp>
        <p:nvSpPr>
          <p:cNvPr id="20" name="矩形 8">
            <a:extLst>
              <a:ext uri="{FF2B5EF4-FFF2-40B4-BE49-F238E27FC236}">
                <a16:creationId xmlns:a16="http://schemas.microsoft.com/office/drawing/2014/main" id="{1B5C2546-B096-E52E-ADDC-5C0311A80E79}"/>
              </a:ext>
            </a:extLst>
          </p:cNvPr>
          <p:cNvSpPr/>
          <p:nvPr/>
        </p:nvSpPr>
        <p:spPr>
          <a:xfrm>
            <a:off x="4431832" y="1708606"/>
            <a:ext cx="4584068" cy="258785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21" name="TextBox 105">
            <a:extLst>
              <a:ext uri="{FF2B5EF4-FFF2-40B4-BE49-F238E27FC236}">
                <a16:creationId xmlns:a16="http://schemas.microsoft.com/office/drawing/2014/main" id="{3852D338-93A7-2C4B-27ED-A9774394C2CE}"/>
              </a:ext>
            </a:extLst>
          </p:cNvPr>
          <p:cNvSpPr txBox="1"/>
          <p:nvPr/>
        </p:nvSpPr>
        <p:spPr>
          <a:xfrm>
            <a:off x="213388" y="4501479"/>
            <a:ext cx="5595482" cy="231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1219170">
              <a:lnSpc>
                <a:spcPct val="120000"/>
              </a:lnSpc>
              <a:buFont typeface="Wingdings" panose="05000000000000000000" pitchFamily="2" charset="2"/>
              <a:buChar char="Ø"/>
              <a:defRPr sz="110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t>AI 应用使用角色：AICoding 开发者、技术管理者</a:t>
            </a:r>
            <a:endParaRPr lang="en-US" altLang="zh-CN" sz="825" i="1" dirty="0"/>
          </a:p>
        </p:txBody>
      </p:sp>
      <p:sp>
        <p:nvSpPr>
          <p:cNvPr id="22" name="TextBox 60">
            <a:extLst>
              <a:ext uri="{FF2B5EF4-FFF2-40B4-BE49-F238E27FC236}">
                <a16:creationId xmlns:a16="http://schemas.microsoft.com/office/drawing/2014/main" id="{BA6E253D-0658-4680-5833-C086570F50CD}"/>
              </a:ext>
            </a:extLst>
          </p:cNvPr>
          <p:cNvSpPr txBox="1"/>
          <p:nvPr/>
        </p:nvSpPr>
        <p:spPr>
          <a:xfrm>
            <a:off x="712606" y="931938"/>
            <a:ext cx="8303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33">
              <a:tabLst>
                <a:tab pos="3371682" algn="l"/>
              </a:tabLst>
              <a:defRPr/>
            </a:pPr>
            <a:r>
              <a:t>零侵入上报：Project Rule 驱动每轮 init/规划/更新/sync，无需手工填表</a:t>
            </a:r>
            <a:endParaRPr lang="en-US" altLang="zh-CN" sz="1600" b="1" dirty="0">
              <a:solidFill>
                <a:srgbClr val="4C7B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249854" y="869273"/>
            <a:ext cx="8406947" cy="4412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文本框 48"/>
          <p:cNvSpPr txBox="1"/>
          <p:nvPr/>
        </p:nvSpPr>
        <p:spPr>
          <a:xfrm>
            <a:off x="324001" y="920632"/>
            <a:ext cx="1477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关键能力清单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6FDBE3-58F8-4601-A11C-2297FB065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51" y="1841165"/>
            <a:ext cx="1399688" cy="228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7FA030-187C-4DA9-864B-A44AEB454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940" y="1841165"/>
            <a:ext cx="1399688" cy="228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BCBAE9-AB54-44D5-807D-211916645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144" y="1920623"/>
            <a:ext cx="1868907" cy="2157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3DEDFCB-47BE-4814-93BE-33814E5AA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049" y="1836994"/>
            <a:ext cx="3177511" cy="218453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15C7AEB-C3F4-44FC-90EE-5E2EC2152A99}"/>
              </a:ext>
            </a:extLst>
          </p:cNvPr>
          <p:cNvSpPr txBox="1"/>
          <p:nvPr/>
        </p:nvSpPr>
        <p:spPr>
          <a:xfrm>
            <a:off x="249854" y="1852437"/>
            <a:ext cx="994746" cy="214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1、初始化：创建 pipeline-status JSON，写入 session_id、首问摘要、git remote/分支</a:t>
            </a:r>
            <a:br/>
            <a:r>
              <a:t>2、流水线规划：每个需求一条 Pipeline，创建时一次性写全大步骤（≤10 步）</a:t>
            </a:r>
            <a:br/>
            <a:r>
              <a:t>3、Agent/Skill 追踪：Sub-Agent 自动读取 frontmatter，执行中追加 Skill 调用</a:t>
            </a:r>
            <a:br/>
            <a:r>
              <a:t>4、平台同步：sync 脚本 PUT 完整 JSON；429/5xx 指数退避最多 5 次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7704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二、专项成果-成果展示|规则驱动+花茶通知</a:t>
            </a: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E7E25FB0-D2C5-9BE7-D37A-C5DBBFF0FAAD}"/>
              </a:ext>
            </a:extLst>
          </p:cNvPr>
          <p:cNvSpPr/>
          <p:nvPr/>
        </p:nvSpPr>
        <p:spPr>
          <a:xfrm>
            <a:off x="210538" y="1718674"/>
            <a:ext cx="3231162" cy="27427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5">
            <a:extLst>
              <a:ext uri="{FF2B5EF4-FFF2-40B4-BE49-F238E27FC236}">
                <a16:creationId xmlns:a16="http://schemas.microsoft.com/office/drawing/2014/main" id="{794A815E-0BED-3E92-1806-C74E393E73F3}"/>
              </a:ext>
            </a:extLst>
          </p:cNvPr>
          <p:cNvSpPr txBox="1"/>
          <p:nvPr/>
        </p:nvSpPr>
        <p:spPr>
          <a:xfrm>
            <a:off x="204784" y="1444310"/>
            <a:ext cx="3141666" cy="274362"/>
          </a:xfrm>
          <a:prstGeom prst="rect">
            <a:avLst/>
          </a:prstGeom>
          <a:gradFill>
            <a:gsLst>
              <a:gs pos="63300">
                <a:srgbClr val="0870E0"/>
              </a:gs>
              <a:gs pos="0">
                <a:srgbClr val="0D33AB"/>
              </a:gs>
              <a:gs pos="100000">
                <a:srgbClr val="059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867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55">
              <a:lnSpc>
                <a:spcPct val="130000"/>
              </a:lnSpc>
              <a:buClr>
                <a:srgbClr val="E66800"/>
              </a:buClr>
            </a:pPr>
            <a:r>
              <a:t>agent-info-report（alwaysApply）：AI 每轮回复前自动维护流水线状态</a:t>
            </a: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30B28AED-D35B-ABA9-D201-CCAA63704882}"/>
              </a:ext>
            </a:extLst>
          </p:cNvPr>
          <p:cNvSpPr txBox="1"/>
          <p:nvPr/>
        </p:nvSpPr>
        <p:spPr>
          <a:xfrm>
            <a:off x="3492499" y="1443104"/>
            <a:ext cx="5523401" cy="265502"/>
          </a:xfrm>
          <a:prstGeom prst="rect">
            <a:avLst/>
          </a:prstGeom>
          <a:gradFill>
            <a:gsLst>
              <a:gs pos="35000">
                <a:srgbClr val="4C7BFE"/>
              </a:gs>
              <a:gs pos="99000">
                <a:srgbClr val="0AFFFF"/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rgbClr val="4C7BFE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 defTabSz="1219170">
              <a:lnSpc>
                <a:spcPct val="130000"/>
              </a:lnSpc>
              <a:buClr>
                <a:srgbClr val="E66800"/>
              </a:buClr>
              <a:defRPr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规则层</a:t>
            </a:r>
          </a:p>
        </p:txBody>
      </p:sp>
      <p:sp>
        <p:nvSpPr>
          <p:cNvPr id="20" name="矩形 8">
            <a:extLst>
              <a:ext uri="{FF2B5EF4-FFF2-40B4-BE49-F238E27FC236}">
                <a16:creationId xmlns:a16="http://schemas.microsoft.com/office/drawing/2014/main" id="{1B5C2546-B096-E52E-ADDC-5C0311A80E79}"/>
              </a:ext>
            </a:extLst>
          </p:cNvPr>
          <p:cNvSpPr/>
          <p:nvPr/>
        </p:nvSpPr>
        <p:spPr>
          <a:xfrm>
            <a:off x="3481016" y="1718674"/>
            <a:ext cx="5523401" cy="29422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21" name="TextBox 105">
            <a:extLst>
              <a:ext uri="{FF2B5EF4-FFF2-40B4-BE49-F238E27FC236}">
                <a16:creationId xmlns:a16="http://schemas.microsoft.com/office/drawing/2014/main" id="{3852D338-93A7-2C4B-27ED-A9774394C2CE}"/>
              </a:ext>
            </a:extLst>
          </p:cNvPr>
          <p:cNvSpPr txBox="1"/>
          <p:nvPr/>
        </p:nvSpPr>
        <p:spPr>
          <a:xfrm>
            <a:off x="213388" y="4675908"/>
            <a:ext cx="5595482" cy="231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 defTabSz="1219170">
              <a:lnSpc>
                <a:spcPct val="120000"/>
              </a:lnSpc>
              <a:buFont typeface="Wingdings" panose="05000000000000000000" pitchFamily="2" charset="2"/>
              <a:buChar char="Ø"/>
              <a:defRPr sz="110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t>AI 应用使用角色：AICoding 开发者</a:t>
            </a:r>
            <a:endParaRPr lang="en-US" altLang="zh-CN" sz="825" i="1" dirty="0"/>
          </a:p>
        </p:txBody>
      </p:sp>
      <p:sp>
        <p:nvSpPr>
          <p:cNvPr id="22" name="TextBox 60">
            <a:extLst>
              <a:ext uri="{FF2B5EF4-FFF2-40B4-BE49-F238E27FC236}">
                <a16:creationId xmlns:a16="http://schemas.microsoft.com/office/drawing/2014/main" id="{BA6E253D-0658-4680-5833-C086570F50CD}"/>
              </a:ext>
            </a:extLst>
          </p:cNvPr>
          <p:cNvSpPr txBox="1"/>
          <p:nvPr/>
        </p:nvSpPr>
        <p:spPr>
          <a:xfrm>
            <a:off x="712606" y="931938"/>
            <a:ext cx="8303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33">
              <a:tabLst>
                <a:tab pos="3371682" algn="l"/>
              </a:tabLst>
              <a:defRPr/>
            </a:pPr>
            <a:r>
              <a:t>每轮回复前三件事：① 回想是否 init  ② 判定新任务 or 延续  ③ 更新 JSON 并立刻 sync</a:t>
            </a:r>
            <a:endParaRPr lang="en-US" altLang="zh-CN" sz="1600" b="1" dirty="0">
              <a:solidFill>
                <a:srgbClr val="4C7B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249854" y="869273"/>
            <a:ext cx="8406947" cy="4412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文本框 48"/>
          <p:cNvSpPr txBox="1"/>
          <p:nvPr/>
        </p:nvSpPr>
        <p:spPr>
          <a:xfrm>
            <a:off x="324001" y="920632"/>
            <a:ext cx="1477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硬约束（三条不变量）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5C7AEB-C3F4-44FC-90EE-5E2EC2152A99}"/>
              </a:ext>
            </a:extLst>
          </p:cNvPr>
          <p:cNvSpPr txBox="1"/>
          <p:nvPr/>
        </p:nvSpPr>
        <p:spPr>
          <a:xfrm>
            <a:off x="249854" y="1852437"/>
            <a:ext cx="3096596" cy="193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1、question.title/description init 后永久冻结</a:t>
            </a:r>
            <a:br/>
            <a:r>
              <a:t>2、已结束（DONE/FAILED）的 Pipeline/Step 不可修改</a:t>
            </a:r>
            <a:br/>
            <a:r>
              <a:t>3、main_agent 仅写在 pipelines[0]，后续 pipeline 不带</a:t>
            </a:r>
            <a:br/>
            <a:br/>
            <a:r>
              <a:t>通知层 huachat-notify MCP：</a:t>
            </a:r>
            <a:br/>
            <a:r>
              <a:t>· 任务完成 → 推送执行情况摘要</a:t>
            </a:r>
            <a:br/>
            <a:r>
              <a:t>· 需用户确认 → 说明待选方案，引导回到任务界面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A631D6-CC71-47CC-969C-2D86334D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82" y="1852437"/>
            <a:ext cx="1979566" cy="2492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3748DB-2730-40C0-BCCF-75EE0A03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864" y="1678373"/>
            <a:ext cx="3184736" cy="1852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A1541AF-2CBD-4ED7-B798-BA842A45D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870" y="2716465"/>
            <a:ext cx="1892727" cy="1852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79840C2-763C-4D69-B8B1-AD9B22F01FDE}"/>
              </a:ext>
            </a:extLst>
          </p:cNvPr>
          <p:cNvSpPr txBox="1"/>
          <p:nvPr/>
        </p:nvSpPr>
        <p:spPr>
          <a:xfrm>
            <a:off x="3995917" y="1740942"/>
            <a:ext cx="1218647" cy="37741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规则配置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D4A6AE-3B79-43E3-A4D1-7D7D836D3B29}"/>
              </a:ext>
            </a:extLst>
          </p:cNvPr>
          <p:cNvSpPr txBox="1"/>
          <p:nvPr/>
        </p:nvSpPr>
        <p:spPr>
          <a:xfrm>
            <a:off x="7743683" y="2339054"/>
            <a:ext cx="1218647" cy="37741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花茶通知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D728E3-9FB6-4A92-A5CB-46040FE47647}"/>
              </a:ext>
            </a:extLst>
          </p:cNvPr>
          <p:cNvSpPr txBox="1"/>
          <p:nvPr/>
        </p:nvSpPr>
        <p:spPr>
          <a:xfrm>
            <a:off x="7378279" y="3942322"/>
            <a:ext cx="1218647" cy="37741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MCP 调用</a:t>
            </a:r>
          </a:p>
        </p:txBody>
      </p:sp>
    </p:spTree>
    <p:extLst>
      <p:ext uri="{BB962C8B-B14F-4D97-AF65-F5344CB8AC3E}">
        <p14:creationId xmlns:p14="http://schemas.microsoft.com/office/powerpoint/2010/main" val="381517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420C-1E9D-67CC-EB30-F116C617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AF3F53-EFFB-3724-CF8F-74BFB309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二、专项成果-需求与实现过程可视化及统计分析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7D56A8-03CF-47AB-8646-9E43338DF87C}"/>
              </a:ext>
            </a:extLst>
          </p:cNvPr>
          <p:cNvSpPr txBox="1"/>
          <p:nvPr/>
        </p:nvSpPr>
        <p:spPr>
          <a:xfrm>
            <a:off x="431799" y="1293355"/>
            <a:ext cx="3251201" cy="255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平台对接：</a:t>
            </a:r>
            <a:br/>
            <a:r>
              <a:t>· API：PUT /api/v1/agent/sessions/{session_id}，Header X-Employee-Id</a:t>
            </a:r>
            <a:br/>
            <a:r>
              <a:t>· 聚合维度：Git 远程仓库 URL → 分支 → 工号 → 会话 → 流水线 → 步骤</a:t>
            </a:r>
            <a:br/>
            <a:r>
              <a:t>· 平台地址：http://aicoflow.dahuatech.com:5001</a:t>
            </a:r>
            <a:br/>
            <a:br/>
            <a:r>
              <a:t>管理价值（之前 → 之后）：</a:t>
            </a:r>
            <a:br/>
            <a:r>
              <a:t>· 开发过程只在本地对话里 → 平台可按项目查看完整流水线进度</a:t>
            </a:r>
            <a:br/>
            <a:r>
              <a:t>· 不知道用了哪些 Agent/Skill → 每步 skills[] 自动记录，可统计 AI 资产使用率</a:t>
            </a:r>
            <a:br/>
            <a:r>
              <a:t>· 需求做完无总结 → 会话级 question + 多条 pipeline 形成结构化交付记录</a:t>
            </a:r>
            <a:br/>
            <a:r>
              <a:t>· 管理者无法评估 AICoding 规范度 → 可对比是否一次性规划 steps、是否及时 sync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E31738-D9E6-435E-92BE-3C861588850C}"/>
              </a:ext>
            </a:extLst>
          </p:cNvPr>
          <p:cNvSpPr txBox="1"/>
          <p:nvPr/>
        </p:nvSpPr>
        <p:spPr>
          <a:xfrm>
            <a:off x="4127503" y="1083870"/>
            <a:ext cx="3867150" cy="114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t>提效与覆盖：</a:t>
            </a:r>
            <a:br/>
            <a:r>
              <a:t>· 上报接入项目数：待统计</a:t>
            </a:r>
            <a:br/>
            <a:r>
              <a:t>· 日均同步会话数：待统计</a:t>
            </a:r>
            <a:br/>
            <a:r>
              <a:t>· 管理者查看覆盖率：待统计</a:t>
            </a:r>
            <a:br/>
            <a:r>
              <a:t>· 人工填表时间节省：从「无记录」到「全自动」，预计节省 100% 手工汇总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2A4531-DC58-477D-B4DF-082C306F0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3" y="2235015"/>
            <a:ext cx="3625020" cy="2556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583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420C-1E9D-67CC-EB30-F116C617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AF3F53-EFFB-3724-CF8F-74BFB309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二、专项成果-AI在个人工作中的占比情况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 - AI工具使用频率：日均 AICoding 会话多轮次、高频；开发工作 100% 通过 AICoding 完成</a:t>
            </a:r>
            <a:br/>
            <a:r>
              <a:t> - AI工具使用种类和数量：</a:t>
            </a: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6FD3CD3F-664B-4AEB-A651-DD60556C3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63438"/>
              </p:ext>
            </p:extLst>
          </p:nvPr>
        </p:nvGraphicFramePr>
        <p:xfrm>
          <a:off x="654050" y="1879600"/>
          <a:ext cx="4140200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117517347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4220831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种类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场景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33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pipeline-status-report：本地状态 init/sync 与平台上报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39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Project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agent-info-report：每轮回复前自动维护流水线状态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Project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huachat-notify-task-done：任务完成/待确认时花茶通知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50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send_huachat_notification：推送纯文本任务摘要到花茶客户端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19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平台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/api/v1/agent/sessions/{id}：会话/流水线数据落库与展示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19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77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420C-1E9D-67CC-EB30-F116C617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AF3F53-EFFB-3724-CF8F-74BFB309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二、专项成果-个人优秀成果复制输出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31800" y="1153594"/>
            <a:ext cx="3050235" cy="2547897"/>
          </a:xfrm>
        </p:spPr>
        <p:txBody>
          <a:bodyPr/>
          <a:lstStyle/>
          <a:p>
            <a:r>
              <a:t>AI资产输出情况：</a:t>
            </a:r>
            <a:br/>
            <a:r>
              <a:t>一、Skill 输出：1 个</a:t>
            </a:r>
            <a:br/>
            <a:r>
              <a:t>pipeline-status-report（v1.2.0）</a:t>
            </a:r>
            <a:br/>
            <a:r>
              <a:t>维护本地 pipeline-status JSON，同步 AI 会话、流水线步骤与执行进度到人机协作平台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A124172-603B-4897-BF16-70ECA6CBF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42045"/>
              </p:ext>
            </p:extLst>
          </p:nvPr>
        </p:nvGraphicFramePr>
        <p:xfrm>
          <a:off x="446429" y="1990188"/>
          <a:ext cx="2625954" cy="1648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565">
                  <a:extLst>
                    <a:ext uri="{9D8B030D-6E8A-4147-A177-3AD203B41FA5}">
                      <a16:colId xmlns:a16="http://schemas.microsoft.com/office/drawing/2014/main" val="3106745634"/>
                    </a:ext>
                  </a:extLst>
                </a:gridCol>
                <a:gridCol w="1053389">
                  <a:extLst>
                    <a:ext uri="{9D8B030D-6E8A-4147-A177-3AD203B41FA5}">
                      <a16:colId xmlns:a16="http://schemas.microsoft.com/office/drawing/2014/main" val="514145480"/>
                    </a:ext>
                  </a:extLst>
                </a:gridCol>
              </a:tblGrid>
              <a:tr h="208257">
                <a:tc>
                  <a:txBody>
                    <a:bodyPr/>
                    <a:lstStyle/>
                    <a:p>
                      <a: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功能/内容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437696"/>
                  </a:ext>
                </a:extLst>
              </a:tr>
              <a:tr h="201089">
                <a:tc>
                  <a:txBody>
                    <a:bodyPr/>
                    <a:lstStyle/>
                    <a:p>
                      <a:r>
                        <a:t>agent-info-report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每轮回复前 init/规划/更新/sync 流水线状态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82364"/>
                  </a:ext>
                </a:extLst>
              </a:tr>
              <a:tr h="201089">
                <a:tc>
                  <a:txBody>
                    <a:bodyPr/>
                    <a:lstStyle/>
                    <a:p>
                      <a:r>
                        <a:t>huachat-notify-task-done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任务完成或需确认时调用 MCP 发送花茶通知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000390"/>
                  </a:ext>
                </a:extLst>
              </a:tr>
              <a:tr h="233099">
                <a:tc>
                  <a:txBody>
                    <a:bodyPr/>
                    <a:lstStyle/>
                    <a:p>
                      <a:r>
                        <a:t>pipeline-status.protocol.md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字段定义、枚举、冻结规则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89721"/>
                  </a:ext>
                </a:extLst>
              </a:tr>
              <a:tr h="201089">
                <a:tc>
                  <a:txBody>
                    <a:bodyPr/>
                    <a:lstStyle/>
                    <a:p>
                      <a:r>
                        <a:t>核心上报流程.md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完整 mermaid 流程图 + 上报信息清单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39117"/>
                  </a:ext>
                </a:extLst>
              </a:tr>
              <a:tr h="226945">
                <a:tc>
                  <a:txBody>
                    <a:bodyPr/>
                    <a:lstStyle/>
                    <a:p>
                      <a:r>
                        <a:t>agent-info-report&amp;huachat-notify.mdc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规则原文与 MCP 调用示例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105161"/>
                  </a:ext>
                </a:extLst>
              </a:tr>
              <a:tr h="16825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21127"/>
                  </a:ext>
                </a:extLst>
              </a:tr>
            </a:tbl>
          </a:graphicData>
        </a:graphic>
      </p:graphicFrame>
      <p:sp>
        <p:nvSpPr>
          <p:cNvPr id="6" name="文本占位符 3">
            <a:extLst>
              <a:ext uri="{FF2B5EF4-FFF2-40B4-BE49-F238E27FC236}">
                <a16:creationId xmlns:a16="http://schemas.microsoft.com/office/drawing/2014/main" id="{57BBD9B6-876F-467E-82E0-7092D4B66037}"/>
              </a:ext>
            </a:extLst>
          </p:cNvPr>
          <p:cNvSpPr txBox="1">
            <a:spLocks/>
          </p:cNvSpPr>
          <p:nvPr/>
        </p:nvSpPr>
        <p:spPr>
          <a:xfrm>
            <a:off x="431800" y="3774642"/>
            <a:ext cx="3050235" cy="116003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二、Project Rule 输出：2 条（见上表）</a:t>
            </a:r>
            <a:br/>
            <a:r>
              <a:t>三、协议与流程文档：3 份（见上表）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925BCC8-EC1E-4A71-867F-8A7C8AF9D8A6}"/>
              </a:ext>
            </a:extLst>
          </p:cNvPr>
          <p:cNvSpPr txBox="1">
            <a:spLocks/>
          </p:cNvSpPr>
          <p:nvPr/>
        </p:nvSpPr>
        <p:spPr>
          <a:xfrm>
            <a:off x="3496664" y="1057020"/>
            <a:ext cx="3050235" cy="63279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四、可复制推广方式：</a:t>
            </a:r>
            <a:br/>
            <a:r>
              <a:t>1、将 pipeline-status-report Skill 安装到目标项目 .codebuddy/skills/</a:t>
            </a:r>
            <a:br/>
            <a:r>
              <a:t>2、复制 agent-info-report 与 huachat-notify 两条 Project Rule 并启用 alwaysApply</a:t>
            </a:r>
            <a:br/>
            <a:r>
              <a:t>3、在项目根目录 .env 配置 PLATFORM_BASE_URL 与 PLATFORM_EMPLOYEE_ID</a:t>
            </a:r>
            <a:br/>
            <a:r>
              <a:t>4、创建 spec/AI2AI/数据上报/ 目录（已在 .gitignore 中，不上库）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FDF82649-46C6-4C97-98BA-6E7B2654680D}"/>
              </a:ext>
            </a:extLst>
          </p:cNvPr>
          <p:cNvSpPr txBox="1">
            <a:spLocks/>
          </p:cNvSpPr>
          <p:nvPr/>
        </p:nvSpPr>
        <p:spPr>
          <a:xfrm>
            <a:off x="3482035" y="1761553"/>
            <a:ext cx="3993406" cy="309573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6A08173-E236-42D3-9776-C994391CD1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8049" y="564253"/>
            <a:ext cx="2136043" cy="1494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E15CA4D-FC17-47AA-8618-1C7F93F3F3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3064" y="3796247"/>
            <a:ext cx="2223006" cy="1217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475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420C-1E9D-67CC-EB30-F116C617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AF3F53-EFFB-3724-CF8F-74BFB309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t>二、专项成果-个人对外赋能和分享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31800" y="1153594"/>
            <a:ext cx="7336942" cy="3636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t>分享记录（规划/待开展）：</a:t>
            </a:r>
            <a:br/>
            <a:r>
              <a:t>《AICoding 开发过程自动上报实践》— 介绍 Skill + Rule + 平台联调完整链路</a:t>
            </a:r>
            <a:br/>
            <a:r>
              <a:t>《如何让管理者看见 AI 开发过程》— 面向 PL/管理者，演示平台可视化</a:t>
            </a:r>
            <a:br/>
            <a:r>
              <a:t>《pipeline-status 协议与最佳实践》— 面向研发，讲解 steps 规划规范与常见踩坑</a:t>
            </a:r>
            <a:br/>
            <a:br/>
            <a:r>
              <a:t>补充：核心流程文档 1 篇，Skill 协议文档 1 套，待沉淀 Confluence 实践文章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723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3E01-6630-449A-CB8D-2D1849AB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A964815-D526-60D0-C0E0-E7122697BE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534" y="2392589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AA7FD6-0DA1-5049-FED7-549EF04F97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995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404040"/>
                </a:solidFill>
              </a:rPr>
              <a:t>专项概述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38030C-0B7E-4A3B-AAF4-55A27A2124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16993" y="2377796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913F285-9546-1746-F13A-1C8C448E8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0456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404040"/>
                </a:solidFill>
              </a:rPr>
              <a:t>专项成果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234B15C2-627A-4204-B09B-F14F40A1B0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3483" y="2392589"/>
            <a:ext cx="576000" cy="684000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03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7144081B-1412-FFB1-C3E7-C14566352B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7334" y="2540450"/>
            <a:ext cx="2520000" cy="193899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专项后续计划</a:t>
            </a:r>
          </a:p>
        </p:txBody>
      </p:sp>
    </p:spTree>
    <p:extLst>
      <p:ext uri="{BB962C8B-B14F-4D97-AF65-F5344CB8AC3E}">
        <p14:creationId xmlns:p14="http://schemas.microsoft.com/office/powerpoint/2010/main" val="127060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799" y="913751"/>
            <a:ext cx="8280400" cy="4152923"/>
          </a:xfrm>
        </p:spPr>
        <p:txBody>
          <a:bodyPr/>
          <a:lstStyle/>
          <a:p>
            <a:br/>
            <a:r>
              <a:t>后续计划及行动项</a:t>
            </a:r>
            <a:br/>
            <a:r>
              <a:t>        一、平台可视化增强</a:t>
            </a:r>
            <a:br/>
            <a:r>
              <a:t>                 1、完善流水线步骤时间线视图（步骤耗时、状态流转动画）</a:t>
            </a:r>
            <a:br/>
            <a:r>
              <a:t>                 2、增加「AI 资产使用率」统计看板：Agent/Skill 调用频次、Top N 排行</a:t>
            </a:r>
            <a:br/>
            <a:r>
              <a:t>                 3、支持按团队/项目维度导出周报</a:t>
            </a:r>
            <a:br/>
            <a:r>
              <a:t>        二、上报机制增强</a:t>
            </a:r>
            <a:br/>
            <a:r>
              <a:t>                 1、支持多仓库/monorepo 场景的 repo 识别优化</a:t>
            </a:r>
            <a:br/>
            <a:r>
              <a:t>                 2、增加 WAITING_APPROVAL 状态的审批流对接</a:t>
            </a:r>
            <a:br/>
            <a:r>
              <a:t>                 3、离线 sync 队列：网络不可达时本地排队，恢复后自动补传</a:t>
            </a:r>
            <a:br/>
            <a:r>
              <a:t>        三、推广与标准化</a:t>
            </a:r>
            <a:br/>
            <a:r>
              <a:t>                 1、编写《AICoding 项目接入上报指南》，纳入 docs/guides/ 培训体系</a:t>
            </a:r>
            <a:br/>
            <a:r>
              <a:t>                 2、在 @网站开发 等主 Agent 中内置 pipeline 规划模板</a:t>
            </a:r>
            <a:br/>
            <a:r>
              <a:t>                 3、推动团队核心项目批量接入，形成管理侧可观测的开发数据基线</a:t>
            </a:r>
            <a:br/>
            <a:br/>
            <a:r>
              <a:t>问题及资源支撑</a:t>
            </a:r>
            <a:br/>
            <a:r>
              <a:t>     平台前端看板功能尚不完善 → 需要平台研发团队排期可视化页面</a:t>
            </a:r>
            <a:br/>
            <a:r>
              <a:t>     部分开发者忘记配置 .env → 提供 init 脚本友好报错 + 接入 checklist</a:t>
            </a:r>
            <a:br/>
            <a:r>
              <a:t>     steps 规划质量参差不齐 → 补充 example 与 lint 校验脚本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1799" y="351694"/>
            <a:ext cx="6840000" cy="307777"/>
          </a:xfrm>
        </p:spPr>
        <p:txBody>
          <a:bodyPr/>
          <a:lstStyle/>
          <a:p>
            <a:r>
              <a:rPr lang="zh-CN" altLang="en-US" dirty="0"/>
              <a:t>三、专项后续计划</a:t>
            </a:r>
          </a:p>
        </p:txBody>
      </p:sp>
    </p:spTree>
    <p:extLst>
      <p:ext uri="{BB962C8B-B14F-4D97-AF65-F5344CB8AC3E}">
        <p14:creationId xmlns:p14="http://schemas.microsoft.com/office/powerpoint/2010/main" val="1391228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2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p:Policy xmlns:p="office.server.policy" id="" local="true">
  <p:Name>文档</p:Name>
  <p:Description/>
  <p:Statement/>
  <p:PolicyItems>
    <p:PolicyItem featureId="Microsoft.Office.RecordsManagement.PolicyFeatures.PolicyAudit" staticId="0x010100B3FA16E201F0244DA0562A286120C032|-1228385370" UniqueId="3624c48f-ab5d-450f-97f9-23355a9d7a9e">
      <p:Name>审核</p:Name>
      <p:Description>审核用户对文档和列表项所做的操作，并将审核结果写入审核日志。</p:Description>
      <p:CustomData>
        <Audit>
          <Update/>
          <View/>
          <CheckInOut/>
          <MoveCopy/>
          <DeleteRestore/>
        </Audit>
      </p:CustomData>
    </p:PolicyItem>
    <p:PolicyItem featureId="Microsoft.Office.RecordsManagement.PolicyFeatures.PolicyLabel" staticId="0x010100B3FA16E201F0244DA0562A286120C032|-1139221640" UniqueId="d6ab4173-8006-42e9-b83b-50e7a4b76667">
      <p:Name>标签</p:Name>
      <p:Description>生成可插入 Microsoft Office 文档的标签，以确保打印文档时包含文档属性或其他重要信息。也可使用标签来搜索文档。</p:Description>
      <p:CustomData>
        <label>
          <segment type="literal">机密</segment>
        </label>
      </p:CustomData>
    </p:PolicyItem>
  </p:PolicyItems>
</p:Policy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LCPolicyLabelLock xmlns="ab9b7804-4cfa-4f17-b5c8-9b93398e6fb3" xsi:nil="true"/>
    <PublishingExpirationDate xmlns="http://schemas.microsoft.com/sharepoint/v3" xsi:nil="true"/>
    <PublishingStartDate xmlns="http://schemas.microsoft.com/sharepoint/v3" xsi:nil="true"/>
    <DLCPolicyLabelClientValue xmlns="ab9b7804-4cfa-4f17-b5c8-9b93398e6fb3" xsi:nil="true"/>
    <_dlc_DocId xmlns="07d902fd-e8f4-4567-8d16-441992dda9d4">RRYSSSRXMWAY-923012291-156</_dlc_DocId>
    <_dlc_DocIdUrl xmlns="07d902fd-e8f4-4567-8d16-441992dda9d4">
      <Url>https://js.dahuatech.com/sites/Brand/_layouts/15/DocIdRedir.aspx?ID=RRYSSSRXMWAY-923012291-156</Url>
      <Description>RRYSSSRXMWAY-923012291-156</Description>
    </_dlc_DocIdUrl>
    <DLCPolicyLabelValue xmlns="ab9b7804-4cfa-4f17-b5c8-9b93398e6fb3">机密</DLCPolicyLabelValue>
    <SharedWithUsers xmlns="07d902fd-e8f4-4567-8d16-441992dda9d4">
      <UserInfo>
        <DisplayName>王广新</DisplayName>
        <AccountId>3451</AccountId>
        <AccountType/>
      </UserInfo>
    </SharedWithUsers>
    <IconOverlay xmlns="http://schemas.microsoft.com/sharepoint/v4" xsi:nil="true"/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B3FA16E201F0244DA0562A286120C032" ma:contentTypeVersion="14" ma:contentTypeDescription="新建文档。" ma:contentTypeScope="" ma:versionID="2f57cfd11daf3a956c317e3cb4e2ec5f">
  <xsd:schema xmlns:xsd="http://www.w3.org/2001/XMLSchema" xmlns:xs="http://www.w3.org/2001/XMLSchema" xmlns:p="http://schemas.microsoft.com/office/2006/metadata/properties" xmlns:ns1="http://schemas.microsoft.com/sharepoint/v3" xmlns:ns2="07d902fd-e8f4-4567-8d16-441992dda9d4" xmlns:ns3="ab9b7804-4cfa-4f17-b5c8-9b93398e6fb3" xmlns:ns4="http://schemas.microsoft.com/sharepoint/v4" targetNamespace="http://schemas.microsoft.com/office/2006/metadata/properties" ma:root="true" ma:fieldsID="93d73f259861c4b9c13fcafbfbb6990d" ns1:_="" ns2:_="" ns3:_="" ns4:_="">
    <xsd:import namespace="http://schemas.microsoft.com/sharepoint/v3"/>
    <xsd:import namespace="07d902fd-e8f4-4567-8d16-441992dda9d4"/>
    <xsd:import namespace="ab9b7804-4cfa-4f17-b5c8-9b93398e6fb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1:_dlc_Exempt" minOccurs="0"/>
                <xsd:element ref="ns3:DLCPolicyLabelValue" minOccurs="0"/>
                <xsd:element ref="ns3:DLCPolicyLabelClientValue" minOccurs="0"/>
                <xsd:element ref="ns3:DLCPolicyLabelLock" minOccurs="0"/>
                <xsd:element ref="ns1:_dlc_ExpireDateSaved" minOccurs="0"/>
                <xsd:element ref="ns1:_dlc_ExpireDate" minOccurs="0"/>
                <xsd:element ref="ns1:PublishingStartDate" minOccurs="0"/>
                <xsd:element ref="ns1:PublishingExpirationDate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2" nillable="true" ma:displayName="策略例外" ma:description="" ma:hidden="true" ma:internalName="_dlc_Exempt" ma:readOnly="true">
      <xsd:simpleType>
        <xsd:restriction base="dms:Unknown"/>
      </xsd:simpleType>
    </xsd:element>
    <xsd:element name="_dlc_ExpireDateSaved" ma:index="16" nillable="true" ma:displayName="原始过期日期" ma:description="" ma:hidden="true" ma:internalName="_dlc_ExpireDateSaved" ma:readOnly="true">
      <xsd:simpleType>
        <xsd:restriction base="dms:DateTime"/>
      </xsd:simpleType>
    </xsd:element>
    <xsd:element name="_dlc_ExpireDate" ma:index="17" nillable="true" ma:displayName="到期日期" ma:description="" ma:hidden="true" ma:internalName="_dlc_ExpireDate" ma:readOnly="true">
      <xsd:simpleType>
        <xsd:restriction base="dms:DateTime"/>
      </xsd:simpleType>
    </xsd:element>
    <xsd:element name="PublishingStartDate" ma:index="18" nillable="true" ma:displayName="计划开始日期" ma:description="“计划开始日期”是由“发布”功能创建的网站栏。它用于指定第一次向网站访问者显示此页面的日期和时间。" ma:internalName="PublishingStartDate">
      <xsd:simpleType>
        <xsd:restriction base="dms:Unknown"/>
      </xsd:simpleType>
    </xsd:element>
    <xsd:element name="PublishingExpirationDate" ma:index="19" nillable="true" ma:displayName="计划结束日期" ma:description="“计划结束日期”是由“发布”功能创建的网站栏。它用于指定不再向网站访问者显示此页面的日期和时间。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902fd-e8f4-4567-8d16-441992dda9d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文档 ID 值" ma:description="分配至此项的文档 ID 值。" ma:internalName="_dlc_DocId" ma:readOnly="true">
      <xsd:simpleType>
        <xsd:restriction base="dms:Text"/>
      </xsd:simpleType>
    </xsd:element>
    <xsd:element name="_dlc_DocIdUrl" ma:index="9" nillable="true" ma:displayName="文档 ID" ma:description="此文档的永久链接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永久 ID" ma:description="在添加过程中保留 ID。" ma:hidden="true" ma:internalName="_dlc_DocIdPersistId" ma:readOnly="true">
      <xsd:simpleType>
        <xsd:restriction base="dms:Boolean"/>
      </xsd:simpleType>
    </xsd:element>
    <xsd:element name="SharedWithUsers" ma:index="11" nillable="true" ma:displayName="共享对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b7804-4cfa-4f17-b5c8-9b93398e6fb3" elementFormDefault="qualified">
    <xsd:import namespace="http://schemas.microsoft.com/office/2006/documentManagement/types"/>
    <xsd:import namespace="http://schemas.microsoft.com/office/infopath/2007/PartnerControls"/>
    <xsd:element name="DLCPolicyLabelValue" ma:index="13" nillable="true" ma:displayName="标签" ma:description="存储标签的当前值。" ma:internalName="DLCPolicyLabelValue" ma:readOnly="true">
      <xsd:simpleType>
        <xsd:restriction base="dms:Note">
          <xsd:maxLength value="255"/>
        </xsd:restriction>
      </xsd:simpleType>
    </xsd:element>
    <xsd:element name="DLCPolicyLabelClientValue" ma:index="14" nillable="true" ma:displayName="客户端标签值" ma:description="存储客户端上计算的最后一个标签值。" ma:hidden="true" ma:internalName="DLCPolicyLabelClientValue" ma:readOnly="false">
      <xsd:simpleType>
        <xsd:restriction base="dms:Note"/>
      </xsd:simpleType>
    </xsd:element>
    <xsd:element name="DLCPolicyLabelLock" ma:index="15" nillable="true" ma:displayName="锁定的标签" ma:description="指示修改项目属性时是否应更新标签。" ma:hidden="true" ma:internalName="DLCPolicyLabelLock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C4AA9A-DBEC-4F3C-B5A3-A1D342CEB4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89D890-F2D5-4940-8E9A-591B453483C2}">
  <ds:schemaRefs>
    <ds:schemaRef ds:uri="office.server.policy"/>
  </ds:schemaRefs>
</ds:datastoreItem>
</file>

<file path=customXml/itemProps3.xml><?xml version="1.0" encoding="utf-8"?>
<ds:datastoreItem xmlns:ds="http://schemas.openxmlformats.org/officeDocument/2006/customXml" ds:itemID="{C4F39ABF-DC84-4114-ACDE-89DE9410C16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AB1C846-17C6-48D4-AE63-F47AF129E256}">
  <ds:schemaRefs>
    <ds:schemaRef ds:uri="http://purl.org/dc/terms/"/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sharepoint/v4"/>
    <ds:schemaRef ds:uri="http://purl.org/dc/elements/1.1/"/>
    <ds:schemaRef ds:uri="07d902fd-e8f4-4567-8d16-441992dda9d4"/>
    <ds:schemaRef ds:uri="http://schemas.microsoft.com/office/infopath/2007/PartnerControls"/>
    <ds:schemaRef ds:uri="http://schemas.openxmlformats.org/package/2006/metadata/core-properties"/>
    <ds:schemaRef ds:uri="ab9b7804-4cfa-4f17-b5c8-9b93398e6fb3"/>
  </ds:schemaRefs>
</ds:datastoreItem>
</file>

<file path=customXml/itemProps5.xml><?xml version="1.0" encoding="utf-8"?>
<ds:datastoreItem xmlns:ds="http://schemas.openxmlformats.org/officeDocument/2006/customXml" ds:itemID="{075E507F-52BF-45B8-9D99-FE893D96F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d902fd-e8f4-4567-8d16-441992dda9d4"/>
    <ds:schemaRef ds:uri="ab9b7804-4cfa-4f17-b5c8-9b93398e6fb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10386</TotalTime>
  <Words>1579</Words>
  <Application>Microsoft Office PowerPoint</Application>
  <PresentationFormat>全屏显示(16:9)</PresentationFormat>
  <Paragraphs>203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宋体</vt:lpstr>
      <vt:lpstr>微软雅黑</vt:lpstr>
      <vt:lpstr>微软雅黑</vt:lpstr>
      <vt:lpstr>Arial</vt:lpstr>
      <vt:lpstr>Calibri</vt:lpstr>
      <vt:lpstr>Impact</vt:lpstr>
      <vt:lpstr>Roboto</vt:lpstr>
      <vt:lpstr>Wingdings</vt:lpstr>
      <vt:lpstr>Office 主题​​</vt:lpstr>
      <vt:lpstr>PowerPoint 演示文稿</vt:lpstr>
      <vt:lpstr>内文格式规范说明</vt:lpstr>
      <vt:lpstr>PowerPoint 演示文稿</vt:lpstr>
      <vt:lpstr>一、专项概述</vt:lpstr>
      <vt:lpstr>一、专项概述</vt:lpstr>
      <vt:lpstr>PowerPoint 演示文稿</vt:lpstr>
      <vt:lpstr>二、专项成果-成果展示|问题现场电脑</vt:lpstr>
      <vt:lpstr>二、专项成果-成果展示|研发电脑</vt:lpstr>
      <vt:lpstr>二、专项成果-使用AI输出的交付件月生产率</vt:lpstr>
      <vt:lpstr>二、专项成果-AI在个人工作中的占比情况</vt:lpstr>
      <vt:lpstr>二、专项成果-个人优秀成果复制输出</vt:lpstr>
      <vt:lpstr>二、专项成果-个人对外赋能和分享</vt:lpstr>
      <vt:lpstr>PowerPoint 演示文稿</vt:lpstr>
      <vt:lpstr>三、专项后续计划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DING</dc:creator>
  <cp:lastModifiedBy>孙胜振</cp:lastModifiedBy>
  <cp:revision>188</cp:revision>
  <dcterms:created xsi:type="dcterms:W3CDTF">2019-11-18T07:26:02Z</dcterms:created>
  <dcterms:modified xsi:type="dcterms:W3CDTF">2026-05-09T14:47:57Z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0x010100B3FA16E201F0244DA0562A286120C032</vt:lpwstr>
  </property>
  <property fmtid="{D5CDD505-2E9C-101B-9397-08002B2CF9AE}" pid="3" name="_dlc_policyId">
    <vt:lpwstr/>
  </property>
  <property fmtid="{D5CDD505-2E9C-101B-9397-08002B2CF9AE}" pid="4" name="ItemRetentionFormula">
    <vt:lpwstr/>
  </property>
  <property fmtid="{D5CDD505-2E9C-101B-9397-08002B2CF9AE}" pid="5" name="_dlc_DocIdItemGuid">
    <vt:lpwstr>b934304b-498f-494a-a2ee-53930aee299b</vt:lpwstr>
  </property>
  <property fmtid="{D5CDD505-2E9C-101B-9397-08002B2CF9AE}" pid="6" name="GSEDS_TWMT">
    <vt:lpwstr>d46a6755_b77b54e0_9afa53b96f122ecfbe5e70bcc88433cb9858692da3cf08a0daef762e4fcfbc78_5a33690bfdce35f31fe2b9ff525ba3c17360dd5396434fdff65445a626b9e790</vt:lpwstr>
  </property>
  <property fmtid="{D5CDD505-2E9C-101B-9397-08002B2CF9AE}" pid="7" name="GSEDS_HWMT_d46a6755">
    <vt:lpwstr>f2453cbe_mFV3xD84Jyk2N8pNk3v5qW4qZ7I=_8QYrr0JeQTc+ONxPkHb8rfl9mdij3SHjh6dMac3wlaPPQY0hmFnrU/MP+FPjaNNNsBhTaQ/e/1j+9rCZpkNUO7NQ5A==_5cfe58ea</vt:lpwstr>
  </property>
</Properties>
</file>